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71" r:id="rId7"/>
    <p:sldId id="273" r:id="rId8"/>
    <p:sldId id="269" r:id="rId9"/>
    <p:sldId id="272" r:id="rId10"/>
    <p:sldId id="270" r:id="rId11"/>
    <p:sldId id="265" r:id="rId12"/>
  </p:sldIdLst>
  <p:sldSz cx="18288000" cy="10287000"/>
  <p:notesSz cx="6858000" cy="9144000"/>
  <p:embeddedFontLs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17760" y="31227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71532" y="2644147"/>
            <a:ext cx="8743950" cy="711026"/>
            <a:chOff x="0" y="0"/>
            <a:chExt cx="8290560" cy="6741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290560" cy="674154"/>
            </a:xfrm>
            <a:custGeom>
              <a:avLst/>
              <a:gdLst/>
              <a:ahLst/>
              <a:cxnLst/>
              <a:rect l="l" t="t" r="r" b="b"/>
              <a:pathLst>
                <a:path w="8290560" h="674154">
                  <a:moveTo>
                    <a:pt x="0" y="0"/>
                  </a:moveTo>
                  <a:lnTo>
                    <a:pt x="8290560" y="0"/>
                  </a:lnTo>
                  <a:lnTo>
                    <a:pt x="8290560" y="674154"/>
                  </a:lnTo>
                  <a:lnTo>
                    <a:pt x="0" y="674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143" b="-188099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290560" cy="7027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9"/>
                </a:lnSpc>
              </a:pPr>
              <a:r>
                <a:rPr lang="en-US" sz="3599" b="1" dirty="0">
                  <a:solidFill>
                    <a:srgbClr val="0033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VI SEMESTER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72222" y="4098388"/>
            <a:ext cx="4798404" cy="1043418"/>
            <a:chOff x="-225828" y="-197944"/>
            <a:chExt cx="4549597" cy="9893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23769" cy="791371"/>
            </a:xfrm>
            <a:custGeom>
              <a:avLst/>
              <a:gdLst/>
              <a:ahLst/>
              <a:cxnLst/>
              <a:rect l="l" t="t" r="r" b="b"/>
              <a:pathLst>
                <a:path w="4323769" h="791371">
                  <a:moveTo>
                    <a:pt x="0" y="0"/>
                  </a:moveTo>
                  <a:lnTo>
                    <a:pt x="4323769" y="0"/>
                  </a:lnTo>
                  <a:lnTo>
                    <a:pt x="4323769" y="791371"/>
                  </a:lnTo>
                  <a:lnTo>
                    <a:pt x="0" y="791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458" b="-56459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-225828" y="-197944"/>
              <a:ext cx="4323766" cy="8199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9"/>
                </a:lnSpc>
              </a:pPr>
              <a:r>
                <a:rPr lang="en-US" sz="3599" b="1" dirty="0">
                  <a:solidFill>
                    <a:srgbClr val="CC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Phase-1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10194" y="5530939"/>
            <a:ext cx="13285432" cy="2594758"/>
            <a:chOff x="-586719" y="-19050"/>
            <a:chExt cx="12596557" cy="2460215"/>
          </a:xfrm>
        </p:grpSpPr>
        <p:sp>
          <p:nvSpPr>
            <p:cNvPr id="10" name="Freeform 10"/>
            <p:cNvSpPr/>
            <p:nvPr/>
          </p:nvSpPr>
          <p:spPr>
            <a:xfrm>
              <a:off x="-586719" y="305919"/>
              <a:ext cx="12009837" cy="2135246"/>
            </a:xfrm>
            <a:custGeom>
              <a:avLst/>
              <a:gdLst/>
              <a:ahLst/>
              <a:cxnLst/>
              <a:rect l="l" t="t" r="r" b="b"/>
              <a:pathLst>
                <a:path w="12009837" h="2135246">
                  <a:moveTo>
                    <a:pt x="0" y="0"/>
                  </a:moveTo>
                  <a:lnTo>
                    <a:pt x="12009837" y="0"/>
                  </a:lnTo>
                  <a:lnTo>
                    <a:pt x="12009837" y="2135246"/>
                  </a:lnTo>
                  <a:lnTo>
                    <a:pt x="0" y="2135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5" r="30968" b="-25654"/>
              </a:stretch>
            </a:blipFill>
          </p:spPr>
          <p:txBody>
            <a:bodyPr/>
            <a:lstStyle/>
            <a:p>
              <a:pPr algn="ctr"/>
              <a:r>
                <a:rPr lang="en-US" sz="4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GraphPulse</a:t>
              </a:r>
              <a:r>
                <a: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 algn="ctr"/>
              <a:r>
                <a: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Scalable Analytics for Transaction Networks</a:t>
              </a:r>
              <a:endPara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2009838" cy="21542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39"/>
                </a:lnSpc>
              </a:pPr>
              <a:endParaRPr lang="en-US" sz="4199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86715" y="4716382"/>
            <a:ext cx="3328960" cy="854088"/>
            <a:chOff x="-88607" y="-19044"/>
            <a:chExt cx="3156347" cy="809801"/>
          </a:xfrm>
        </p:grpSpPr>
        <p:sp>
          <p:nvSpPr>
            <p:cNvPr id="13" name="Freeform 13"/>
            <p:cNvSpPr/>
            <p:nvPr/>
          </p:nvSpPr>
          <p:spPr>
            <a:xfrm>
              <a:off x="-88607" y="0"/>
              <a:ext cx="3154189" cy="790757"/>
            </a:xfrm>
            <a:custGeom>
              <a:avLst/>
              <a:gdLst/>
              <a:ahLst/>
              <a:cxnLst/>
              <a:rect l="l" t="t" r="r" b="b"/>
              <a:pathLst>
                <a:path w="3154189" h="790757">
                  <a:moveTo>
                    <a:pt x="0" y="0"/>
                  </a:moveTo>
                  <a:lnTo>
                    <a:pt x="3154189" y="0"/>
                  </a:lnTo>
                  <a:lnTo>
                    <a:pt x="3154189" y="790757"/>
                  </a:lnTo>
                  <a:lnTo>
                    <a:pt x="0" y="7907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203" b="-62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-86445" y="-19044"/>
              <a:ext cx="3154185" cy="809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43195" y="70184"/>
            <a:ext cx="4560195" cy="1599320"/>
          </a:xfrm>
          <a:custGeom>
            <a:avLst/>
            <a:gdLst/>
            <a:ahLst/>
            <a:cxnLst/>
            <a:rect l="l" t="t" r="r" b="b"/>
            <a:pathLst>
              <a:path w="4560195" h="1599320">
                <a:moveTo>
                  <a:pt x="0" y="0"/>
                </a:moveTo>
                <a:lnTo>
                  <a:pt x="4560195" y="0"/>
                </a:lnTo>
                <a:lnTo>
                  <a:pt x="4560195" y="1599321"/>
                </a:lnTo>
                <a:lnTo>
                  <a:pt x="0" y="15993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304" t="-33606" r="-169409" b="-41664"/>
            </a:stretch>
          </a:blipFill>
        </p:spPr>
      </p:sp>
      <p:sp>
        <p:nvSpPr>
          <p:cNvPr id="16" name="Freeform 16" descr="Goal 9: Industry, innovation and infrastructure - The Global Goals"/>
          <p:cNvSpPr/>
          <p:nvPr/>
        </p:nvSpPr>
        <p:spPr>
          <a:xfrm>
            <a:off x="8087462" y="869844"/>
            <a:ext cx="2112090" cy="1513174"/>
          </a:xfrm>
          <a:custGeom>
            <a:avLst/>
            <a:gdLst/>
            <a:ahLst/>
            <a:cxnLst/>
            <a:rect l="l" t="t" r="r" b="b"/>
            <a:pathLst>
              <a:path w="2112090" h="1513174">
                <a:moveTo>
                  <a:pt x="0" y="0"/>
                </a:moveTo>
                <a:lnTo>
                  <a:pt x="2112090" y="0"/>
                </a:lnTo>
                <a:lnTo>
                  <a:pt x="2112090" y="1513175"/>
                </a:lnTo>
                <a:lnTo>
                  <a:pt x="0" y="1513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9364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534871" y="3419443"/>
            <a:ext cx="11854780" cy="70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5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BIG DATA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47796" y="325881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637" y="48330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85674"/>
              </p:ext>
            </p:extLst>
          </p:nvPr>
        </p:nvGraphicFramePr>
        <p:xfrm>
          <a:off x="1967808" y="2557635"/>
          <a:ext cx="14352384" cy="2585865"/>
        </p:xfrm>
        <a:graphic>
          <a:graphicData uri="http://schemas.openxmlformats.org/drawingml/2006/table">
            <a:tbl>
              <a:tblPr/>
              <a:tblGrid>
                <a:gridCol w="4892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2663">
                <a:tc>
                  <a:txBody>
                    <a:bodyPr/>
                    <a:lstStyle/>
                    <a:p>
                      <a:pPr algn="l">
                        <a:lnSpc>
                          <a:spcPts val="3375"/>
                        </a:lnSpc>
                        <a:defRPr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Alroy Deon Saldanha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37"/>
                        </a:lnSpc>
                        <a:defRPr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Aniket RT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37"/>
                        </a:lnSpc>
                        <a:defRPr/>
                      </a:pPr>
                      <a:r>
                        <a:rPr lang="en-IN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Amogh AP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202">
                <a:tc>
                  <a:txBody>
                    <a:bodyPr/>
                    <a:lstStyle/>
                    <a:p>
                      <a:pPr algn="l">
                        <a:lnSpc>
                          <a:spcPts val="3375"/>
                        </a:lnSpc>
                        <a:defRPr/>
                      </a:pPr>
                      <a:r>
                        <a:rPr lang="en-US" sz="2812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 Bold"/>
                          <a:cs typeface="Times New Roman" panose="02020603050405020304" pitchFamily="18" charset="0"/>
                          <a:sym typeface="Times New Roman Bold"/>
                        </a:rPr>
                        <a:t>1RV23AI012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37"/>
                        </a:lnSpc>
                        <a:defRPr/>
                      </a:pPr>
                      <a:r>
                        <a:rPr lang="en-US" sz="2812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 Bold"/>
                          <a:cs typeface="Times New Roman" panose="02020603050405020304" pitchFamily="18" charset="0"/>
                          <a:sym typeface="Times New Roman Bold"/>
                        </a:rPr>
                        <a:t>1RV23AI017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37"/>
                        </a:lnSpc>
                        <a:defRPr/>
                      </a:pPr>
                      <a:r>
                        <a:rPr lang="en-US" sz="2812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 Bold"/>
                          <a:cs typeface="Times New Roman" panose="02020603050405020304" pitchFamily="18" charset="0"/>
                          <a:sym typeface="Times New Roman Bold"/>
                        </a:rPr>
                        <a:t>1RV23AI013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7280278" y="571252"/>
            <a:ext cx="3727444" cy="47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44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</a:t>
            </a:r>
            <a:endParaRPr lang="en-US" sz="4400" b="1" dirty="0">
              <a:solidFill>
                <a:srgbClr val="C00000"/>
              </a:solidFill>
              <a:latin typeface="Times New Roman Bold"/>
              <a:ea typeface="Times New Roman Bold"/>
              <a:cs typeface="Times New Roman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/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55655" y="1866900"/>
            <a:ext cx="15163800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financial transaction systems generate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of interconnected records daily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forming complex graph structures that conventional tools cannot process efficiently.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databases (SQL) fail at scale — complex joins cause performance bottlenecks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Single-machine systems cannot handle graph datasets with millions of nodes and edges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fraud detection is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transaction-centric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missing sophisticated fraud rings that span multiple accounts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meaningful patterns (clusters, key nodes, ring structures) from raw graph data remains computationally expensive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fraud monitoring is near-impossible without distributed, low-latency pipelines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A2404-EBF1-1BF4-84B7-BF6E1E34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F4DBF5-36FF-FFEE-8FA7-ECEBF5A696C8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FA238AC-AA19-76E4-526D-715E1C529D22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72E9E0-FE0A-348F-4E8E-E1D11816F1A0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9B60617-73F7-A28D-91C5-FD911D08B78F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4220A29-9C4F-D816-8762-15FE18EB5506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Objectives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75163C2-E02F-4F2E-C142-896E04756723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7B4D018-A792-65A2-B7F5-D128821184A9}"/>
              </a:ext>
            </a:extLst>
          </p:cNvPr>
          <p:cNvSpPr txBox="1"/>
          <p:nvPr/>
        </p:nvSpPr>
        <p:spPr>
          <a:xfrm>
            <a:off x="1403255" y="2171700"/>
            <a:ext cx="15468600" cy="4667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distributed data pipeline: Ingest, partition, and process large-scale graph datasets using Apache Spark.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parallel data processing: Execute distributed transformations across multiple nodes to reduce processing time. 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graph analytics: Compute metrics such as node degree, connected components, and PageRank to identify key nodes and relationships. 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storage and visualize insights: Store data in Parquet format for efficient querying and present patterns, clusters, and node importance through visualization tools.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0978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E3737-053D-330A-35C1-EB6E65542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9AE700-0CB0-F5F8-67A1-82857D592E31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E386E34-C933-632B-0051-27E8714584B7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0F67526-BF8E-CC51-EC25-7BC162D8A0F3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EB630B3-8685-A9A4-5CA8-B7E3A486F7D6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477BAF1-2B2A-666A-85B0-B0EC4CCF02B9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AA2CBAE-2A07-6E59-8487-755DC5D6DA9F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5E58FED-B9DE-1096-5604-6199533A30A9}"/>
              </a:ext>
            </a:extLst>
          </p:cNvPr>
          <p:cNvSpPr txBox="1"/>
          <p:nvPr/>
        </p:nvSpPr>
        <p:spPr>
          <a:xfrm>
            <a:off x="3314700" y="2096067"/>
            <a:ext cx="12336338" cy="540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3"/>
              </a:lnSpc>
            </a:pPr>
            <a:endParaRPr lang="en-US" sz="327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23D7A04-02FF-690E-1341-376DD655F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959721"/>
              </p:ext>
            </p:extLst>
          </p:nvPr>
        </p:nvGraphicFramePr>
        <p:xfrm>
          <a:off x="533400" y="1184614"/>
          <a:ext cx="16916399" cy="8378484"/>
        </p:xfrm>
        <a:graphic>
          <a:graphicData uri="http://schemas.openxmlformats.org/drawingml/2006/table">
            <a:tbl>
              <a:tblPr/>
              <a:tblGrid>
                <a:gridCol w="821184">
                  <a:extLst>
                    <a:ext uri="{9D8B030D-6E8A-4147-A177-3AD203B41FA5}">
                      <a16:colId xmlns:a16="http://schemas.microsoft.com/office/drawing/2014/main" val="2434142306"/>
                    </a:ext>
                  </a:extLst>
                </a:gridCol>
                <a:gridCol w="4434396">
                  <a:extLst>
                    <a:ext uri="{9D8B030D-6E8A-4147-A177-3AD203B41FA5}">
                      <a16:colId xmlns:a16="http://schemas.microsoft.com/office/drawing/2014/main" val="410074594"/>
                    </a:ext>
                  </a:extLst>
                </a:gridCol>
                <a:gridCol w="985421">
                  <a:extLst>
                    <a:ext uri="{9D8B030D-6E8A-4147-A177-3AD203B41FA5}">
                      <a16:colId xmlns:a16="http://schemas.microsoft.com/office/drawing/2014/main" val="1217013354"/>
                    </a:ext>
                  </a:extLst>
                </a:gridCol>
                <a:gridCol w="4762870">
                  <a:extLst>
                    <a:ext uri="{9D8B030D-6E8A-4147-A177-3AD203B41FA5}">
                      <a16:colId xmlns:a16="http://schemas.microsoft.com/office/drawing/2014/main" val="3340473901"/>
                    </a:ext>
                  </a:extLst>
                </a:gridCol>
                <a:gridCol w="5912528">
                  <a:extLst>
                    <a:ext uri="{9D8B030D-6E8A-4147-A177-3AD203B41FA5}">
                      <a16:colId xmlns:a16="http://schemas.microsoft.com/office/drawing/2014/main" val="796995430"/>
                    </a:ext>
                  </a:extLst>
                </a:gridCol>
              </a:tblGrid>
              <a:tr h="5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 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Research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84265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Liu et al. — Big Data-Driven Fraud Detection Using Machine Learning and Real-Time Stream Processing (arXiv)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Scalable fraud detection framework using Apache Spark, Kafka/Flink for streaming, and AWS S3 for distributed storage; trains classification models on engineered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Limited focus on graph-based relational fraud patterns and fraud ring detection; lacks explainable AI integration for investigator-level 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616640"/>
                  </a:ext>
                </a:extLst>
              </a:tr>
              <a:tr h="1772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RL-GNN — Reinforcement Learning with GNN Fusion for Real-Time Financial Fraud Detection (Scientific Reports)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Integrates Graph Attention Networks with an RL controller and community-swapping data mining for fraud detection on IEEE-CIS data; achieves AUROC 0.872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computational complexity due to RL + GAT integration; scalability challenges for large distributed transaction graphs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441991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Jain et al. — Explainable AI in Big Data Fraud Detection (arXiv)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Reviews XAI methods (LIME, SHAP, counterfactual explanations, attention mechanisms) integrated into Big Data fraud pipelines; identifies gaps in real-time and graph-model explainability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Primarily theoretical review; lacks implementation of scalable real-time explainability integrated with graph neural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757841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Motie &amp; Raahemi — Financial Fraud Detection Using Graph Neural Networks: A Systematic Review (Expert Systems with Applications)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Comprehensive taxonomy of GNN architectures applied to financial fraud; shows GNNs outperform traditional methods by capturing relational patterns in transaction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Survey-oriented work without deployment architecture or distributed implementation strategy for real-time fraud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38329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Onur Erboy et al. — Weighted XGBoost Based Active Learning Framework for Fraud Detection (Springer, CD-MAKE 2024)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Proposes an active learning framework for imbalanced fraud datasets using a small number of labelled samples; human-in-the-loop querying improves model iteratively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Relies on traditional ML (</a:t>
                      </a:r>
                      <a:r>
                        <a:rPr lang="en-US" dirty="0" err="1"/>
                        <a:t>XGBoost</a:t>
                      </a:r>
                      <a:r>
                        <a:rPr lang="en-US" dirty="0"/>
                        <a:t>) instead of graph-based learning; limited capability to capture interconnected fraud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872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23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BFA5-D387-8103-CBB6-B879AAF07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C3ED35-24C2-3E22-FED5-244625320D1B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E4BE20E-2510-A7B0-DB23-7F264AC5C63E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2E14CD3-4E85-CD1A-F108-137363B45D1D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938160A-584E-FEE4-0D2B-E7034A4061EF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D21F208-2E74-1615-373A-94B8128A911D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DE6D1DA4-430A-B2C9-C7F4-15A93FEC93D1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40CDC25-324E-3ABC-EB3C-62F927888923}"/>
              </a:ext>
            </a:extLst>
          </p:cNvPr>
          <p:cNvSpPr txBox="1"/>
          <p:nvPr/>
        </p:nvSpPr>
        <p:spPr>
          <a:xfrm>
            <a:off x="3314700" y="2096067"/>
            <a:ext cx="12336338" cy="540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3"/>
              </a:lnSpc>
            </a:pPr>
            <a:endParaRPr lang="en-US" sz="327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651016A-5D94-D2FF-B6D5-5957E188F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67676"/>
              </p:ext>
            </p:extLst>
          </p:nvPr>
        </p:nvGraphicFramePr>
        <p:xfrm>
          <a:off x="533400" y="1184614"/>
          <a:ext cx="16916399" cy="8378484"/>
        </p:xfrm>
        <a:graphic>
          <a:graphicData uri="http://schemas.openxmlformats.org/drawingml/2006/table">
            <a:tbl>
              <a:tblPr/>
              <a:tblGrid>
                <a:gridCol w="821184">
                  <a:extLst>
                    <a:ext uri="{9D8B030D-6E8A-4147-A177-3AD203B41FA5}">
                      <a16:colId xmlns:a16="http://schemas.microsoft.com/office/drawing/2014/main" val="2434142306"/>
                    </a:ext>
                  </a:extLst>
                </a:gridCol>
                <a:gridCol w="4434396">
                  <a:extLst>
                    <a:ext uri="{9D8B030D-6E8A-4147-A177-3AD203B41FA5}">
                      <a16:colId xmlns:a16="http://schemas.microsoft.com/office/drawing/2014/main" val="410074594"/>
                    </a:ext>
                  </a:extLst>
                </a:gridCol>
                <a:gridCol w="985421">
                  <a:extLst>
                    <a:ext uri="{9D8B030D-6E8A-4147-A177-3AD203B41FA5}">
                      <a16:colId xmlns:a16="http://schemas.microsoft.com/office/drawing/2014/main" val="1217013354"/>
                    </a:ext>
                  </a:extLst>
                </a:gridCol>
                <a:gridCol w="4762870">
                  <a:extLst>
                    <a:ext uri="{9D8B030D-6E8A-4147-A177-3AD203B41FA5}">
                      <a16:colId xmlns:a16="http://schemas.microsoft.com/office/drawing/2014/main" val="3340473901"/>
                    </a:ext>
                  </a:extLst>
                </a:gridCol>
                <a:gridCol w="5912528">
                  <a:extLst>
                    <a:ext uri="{9D8B030D-6E8A-4147-A177-3AD203B41FA5}">
                      <a16:colId xmlns:a16="http://schemas.microsoft.com/office/drawing/2014/main" val="796995430"/>
                    </a:ext>
                  </a:extLst>
                </a:gridCol>
              </a:tblGrid>
              <a:tr h="5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 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Research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84265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ASA-GNN — Transaction Fraud Detection via an Adaptive Graph Neural Network (IEEE Transactions on Big Data)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Proposes adaptive neighbor sampling and aggregation on transaction graphs; addresses noisy neighbors and class imbalance in GraphSAGE-style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Increased model complexity and training overhead; limited discussion on distributed deployment and streaming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616640"/>
                  </a:ext>
                </a:extLst>
              </a:tr>
              <a:tr h="17724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Tong &amp; Shen — Financial Transaction Fraud Detector Based on Imbalance Learning and GNN (Applied Soft Computing)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Combines graph neural networks with oversampling for class-imbalanced fraud datasets; uses node embeddings for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Focuses mainly on imbalance handling; lacks real-time processing and explainability mechanisms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441991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Srivastava &amp; Singh — Fraud Detection in the Distributed Graph Database (Cluster Computing)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Proposes a node-rank based fraud detection algorithm using distributed graph data profiling; minimizes query bottlenecks on large graph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graph profiling techniques but lacks deep learning-based relational representation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757841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Adegbola — Graph-Augmented RNN Models for Detecting Coordinated Fraud Rings in Transaction Networks (SSRN)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Combines RNN sequence modeling with GNN structural analysis to detect coordinated fraud rings; models inter-account relationships and temporal transaction sequences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Heavy sequential modeling increases computational cost; less suitable for scalable static graph analysis in distributed environments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38329"/>
                  </a:ext>
                </a:extLst>
              </a:tr>
              <a:tr h="1521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 — Large-Scale Network Embedding in Apache Spark (KDD 2021)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Presents a distributed algorithm for graph/network embedding using Apache Spark; recursively partitions large graphs into subgraphs for parallel embedding computation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Focuses on scalable graph embedding but does not address fraud-specific classification, explainability, or active learning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872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653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24554-342D-75B6-927B-B9AFE0B3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672AB7-2E70-B39C-2C2B-EE8EA3587428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B5DE0AA-F53D-DAEF-C940-7E02BC407BDF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627ADC6-3006-71EC-7366-E59CD5915BDB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31F165F-BE0A-3756-3DDB-51FC563E0FC6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1575CA9-1669-E448-4AD7-A486FFE814AA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C18040C-6BE2-26C5-46B6-E7E66D7F5BAA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26A6720-7586-A688-5E25-5957128AF3BE}"/>
              </a:ext>
            </a:extLst>
          </p:cNvPr>
          <p:cNvSpPr txBox="1"/>
          <p:nvPr/>
        </p:nvSpPr>
        <p:spPr>
          <a:xfrm>
            <a:off x="3314700" y="2096067"/>
            <a:ext cx="12336338" cy="540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3"/>
              </a:lnSpc>
            </a:pPr>
            <a:endParaRPr lang="en-US" sz="3274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7A182-1A4E-5EF2-A62C-3F01BB503E6D}"/>
              </a:ext>
            </a:extLst>
          </p:cNvPr>
          <p:cNvSpPr txBox="1"/>
          <p:nvPr/>
        </p:nvSpPr>
        <p:spPr>
          <a:xfrm>
            <a:off x="685800" y="1434792"/>
            <a:ext cx="16840200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Summary of Literature Survey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Recent fraud detection research increasingly shifts from traditional ML to </a:t>
            </a:r>
            <a:r>
              <a:rPr lang="en-US" sz="2800" b="1" dirty="0"/>
              <a:t>Graph Neural Networks (GNNs)</a:t>
            </a:r>
            <a:r>
              <a:rPr lang="en-US" sz="2800" dirty="0"/>
              <a:t> for capturing relational transaction patterns.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GraphSAGE</a:t>
            </a:r>
            <a:r>
              <a:rPr lang="en-US" sz="2800" b="1" dirty="0"/>
              <a:t>, GAT, and adaptive GNN architectures</a:t>
            </a:r>
            <a:r>
              <a:rPr lang="en-US" sz="2800" dirty="0"/>
              <a:t> show improved fraud detection accuracy on interconnected financial networks.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Most existing works focus on either </a:t>
            </a:r>
            <a:r>
              <a:rPr lang="en-US" sz="2800" b="1" dirty="0"/>
              <a:t>scalability, imbalance handling, explainability, or graph learning</a:t>
            </a:r>
            <a:r>
              <a:rPr lang="en-US" sz="2800" dirty="0"/>
              <a:t>, but rarely integrate all together in a unified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Distributed Big Data frameworks such as </a:t>
            </a:r>
            <a:r>
              <a:rPr lang="en-US" sz="2800" b="1" dirty="0"/>
              <a:t>Apache Spark and HDFS</a:t>
            </a:r>
            <a:r>
              <a:rPr lang="en-US" sz="2800" dirty="0"/>
              <a:t> are widely adopted for handling large-scale transaction processing.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Explainable AI methods like </a:t>
            </a:r>
            <a:r>
              <a:rPr lang="en-US" sz="2800" b="1" dirty="0"/>
              <a:t>SHAP and LIME</a:t>
            </a:r>
            <a:r>
              <a:rPr lang="en-US" sz="2800" dirty="0"/>
              <a:t> are becoming essential for investigator trust and model transparency.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Active learning and human-in-the-loop systems improve fraud detection performance by incorporating investigator feedback.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Existing systems face limitations in </a:t>
            </a:r>
            <a:r>
              <a:rPr lang="en-US" sz="2800" b="1" dirty="0"/>
              <a:t>real-time scalability, integrated explainability, distributed deployment, and fraud ring detection simultaneously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Our proposed system combines </a:t>
            </a:r>
            <a:r>
              <a:rPr lang="en-US" sz="2800" b="1" dirty="0"/>
              <a:t>distributed Big Data processing, </a:t>
            </a:r>
            <a:r>
              <a:rPr lang="en-US" sz="2800" b="1" dirty="0" err="1"/>
              <a:t>GraphSAGE</a:t>
            </a:r>
            <a:r>
              <a:rPr lang="en-US" sz="2800" b="1" dirty="0"/>
              <a:t>-based fraud detection, explainable AI, active learning, and community detection</a:t>
            </a:r>
            <a:r>
              <a:rPr lang="en-US" sz="2800" dirty="0"/>
              <a:t> into a single scalable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53441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52B17-2230-DB31-1388-D1B438EDC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1F3352-0411-8B96-5729-9FE676D88433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6385AFD-544C-3EE6-10B1-F02784CB41B8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953B8CE-B09D-803F-7739-C3E82D3B9811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C9BA949-D882-77DB-3BB3-4B736796825B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3F37904-1FCC-8745-6284-9ACB98B816AB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Methodology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DE6341F-76C6-1760-945F-243B7E6085E3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A4D4F47-6EBD-F983-8440-D721295AAB42}"/>
              </a:ext>
            </a:extLst>
          </p:cNvPr>
          <p:cNvSpPr txBox="1"/>
          <p:nvPr/>
        </p:nvSpPr>
        <p:spPr>
          <a:xfrm>
            <a:off x="1066800" y="2096067"/>
            <a:ext cx="16383000" cy="5870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and Partitioning: Large transaction datasets are loaded into Apache Spark and partitioned for parallel processing across distributed nodes. 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Storage: Data is stored in distributed systems such as HDFS to enable scalable and fault-tolerant access. 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and Transformation: Spark performs filtering, joins, and aggregations on node and edge data in a distributed manner. 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Analysis: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GraphFrames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compute metrics like node degree, connected components, and PageRank to identify key relationships. </a:t>
            </a:r>
          </a:p>
          <a:p>
            <a:pPr marL="571500" indent="-571500" algn="just">
              <a:lnSpc>
                <a:spcPts val="4583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Optimization and Visualization: Processed data is stored in Parquet format for efficient querying and visualized to highlight patterns and node importance.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2995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CEA11-B3BE-49CB-250A-E544A0E60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39886A-7DED-1F52-FA9A-6E7D306368B8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5DD7580-40BC-A0EC-E5C1-370F929E696F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E8C786D-140C-B3FE-5C3F-0168C712668F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FF8F687-8493-ABAB-48E4-57766E7659C6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DF341F1-09C1-0167-67D8-C4803D8BD058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 err="1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Architechture</a:t>
              </a:r>
              <a:endParaRPr lang="en-US" sz="60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BDB94C9C-CDD8-5A80-0CF2-C51B8D543AB1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049433-0FDE-2ADF-5278-70970133F9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943100"/>
            <a:ext cx="15240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00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796F6-EB12-2C30-0C77-710247652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BBA578-BD5D-E9D7-308D-E73EC35B4682}"/>
              </a:ext>
            </a:extLst>
          </p:cNvPr>
          <p:cNvSpPr/>
          <p:nvPr/>
        </p:nvSpPr>
        <p:spPr>
          <a:xfrm>
            <a:off x="14180650" y="262793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76B86A9-4037-B7B6-A2DA-9F76D726887F}"/>
              </a:ext>
            </a:extLst>
          </p:cNvPr>
          <p:cNvSpPr/>
          <p:nvPr/>
        </p:nvSpPr>
        <p:spPr>
          <a:xfrm>
            <a:off x="252276" y="10152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3D5ACE4-0F97-5D78-5E4A-5403E9E62827}"/>
              </a:ext>
            </a:extLst>
          </p:cNvPr>
          <p:cNvGrpSpPr/>
          <p:nvPr/>
        </p:nvGrpSpPr>
        <p:grpSpPr>
          <a:xfrm>
            <a:off x="3730632" y="96608"/>
            <a:ext cx="10813847" cy="1263868"/>
            <a:chOff x="0" y="0"/>
            <a:chExt cx="10253129" cy="11983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98D5AA7-69B8-37CE-CF54-329B1049FF15}"/>
                </a:ext>
              </a:extLst>
            </p:cNvPr>
            <p:cNvSpPr/>
            <p:nvPr/>
          </p:nvSpPr>
          <p:spPr>
            <a:xfrm>
              <a:off x="-82550" y="0"/>
              <a:ext cx="10335768" cy="1202944"/>
            </a:xfrm>
            <a:custGeom>
              <a:avLst/>
              <a:gdLst/>
              <a:ahLst/>
              <a:cxnLst/>
              <a:rect l="l" t="t" r="r" b="b"/>
              <a:pathLst>
                <a:path w="10335768" h="1202944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E8FD2A0-E5BA-D262-99B3-207AFB20D55A}"/>
                </a:ext>
              </a:extLst>
            </p:cNvPr>
            <p:cNvSpPr txBox="1"/>
            <p:nvPr/>
          </p:nvSpPr>
          <p:spPr>
            <a:xfrm>
              <a:off x="0" y="-38100"/>
              <a:ext cx="10253129" cy="1236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Tools and Technologies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3B7D1AE-2A7A-A015-B1BC-8A81A9F48A62}"/>
              </a:ext>
            </a:extLst>
          </p:cNvPr>
          <p:cNvSpPr/>
          <p:nvPr/>
        </p:nvSpPr>
        <p:spPr>
          <a:xfrm>
            <a:off x="3314700" y="9721683"/>
            <a:ext cx="11482536" cy="521933"/>
          </a:xfrm>
          <a:custGeom>
            <a:avLst/>
            <a:gdLst/>
            <a:ahLst/>
            <a:cxnLst/>
            <a:rect l="l" t="t" r="r" b="b"/>
            <a:pathLst>
              <a:path w="11482536" h="521933">
                <a:moveTo>
                  <a:pt x="0" y="0"/>
                </a:moveTo>
                <a:lnTo>
                  <a:pt x="11482536" y="0"/>
                </a:lnTo>
                <a:lnTo>
                  <a:pt x="11482536" y="521934"/>
                </a:lnTo>
                <a:lnTo>
                  <a:pt x="0" y="521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B2A7F95-8D70-8035-BE7A-D2054362FE2B}"/>
              </a:ext>
            </a:extLst>
          </p:cNvPr>
          <p:cNvSpPr txBox="1"/>
          <p:nvPr/>
        </p:nvSpPr>
        <p:spPr>
          <a:xfrm>
            <a:off x="1066800" y="2096067"/>
            <a:ext cx="16383000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Infrastructure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Apache Hadoop HDFS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Distributed, fault-tolerant storage for large-scale transaction graphs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Apache Spark +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Parallel ETL, joins, filtering, and partitioning at scale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Parquet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Columnar storage for fast querying and reduced storage footprint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Graph Analytics &amp;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GraphFrames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GraphX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Graph operations (PageRank, connected components, node degree)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GraphSAGE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Geometric)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GNN-based node classification for fraud detection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Machine Learning Stack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Core pipeline orchestration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Pandas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Local data preprocessing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scikit-learn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Baseline models (Logistic Regression, Random Forest) + evaluation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System &amp; Integration Layer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WebSocket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Real-time transaction streaming (~20 events/sec)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REST API + JWT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Secure backend integration for case management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Intelligence &amp; Data Source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LLM (Large Language Model)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Automated fraud investigation reports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Kaggle IEEE-CIS Dataset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Real-world financial transaction data</a:t>
            </a:r>
          </a:p>
        </p:txBody>
      </p:sp>
    </p:spTree>
    <p:extLst>
      <p:ext uri="{BB962C8B-B14F-4D97-AF65-F5344CB8AC3E}">
        <p14:creationId xmlns:p14="http://schemas.microsoft.com/office/powerpoint/2010/main" val="417775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13403" y="366702"/>
            <a:ext cx="3988597" cy="731047"/>
          </a:xfrm>
          <a:custGeom>
            <a:avLst/>
            <a:gdLst/>
            <a:ahLst/>
            <a:cxnLst/>
            <a:rect l="l" t="t" r="r" b="b"/>
            <a:pathLst>
              <a:path w="3988597" h="731047">
                <a:moveTo>
                  <a:pt x="0" y="0"/>
                </a:moveTo>
                <a:lnTo>
                  <a:pt x="3988597" y="0"/>
                </a:lnTo>
                <a:lnTo>
                  <a:pt x="3988597" y="731047"/>
                </a:lnTo>
                <a:lnTo>
                  <a:pt x="0" y="731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611" t="-39063" r="-111" b="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57029" y="279651"/>
            <a:ext cx="3326130" cy="1045845"/>
          </a:xfrm>
          <a:custGeom>
            <a:avLst/>
            <a:gdLst/>
            <a:ahLst/>
            <a:cxnLst/>
            <a:rect l="l" t="t" r="r" b="b"/>
            <a:pathLst>
              <a:path w="3326130" h="1045845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6" r="-141392" b="-4267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897152" y="4124907"/>
            <a:ext cx="7436671" cy="1292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1254</Words>
  <Application>Microsoft Office PowerPoint</Application>
  <PresentationFormat>Custom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Times New Roman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tutorial activity 2</dc:title>
  <dc:creator>amogh a p</dc:creator>
  <cp:lastModifiedBy>Amogh AP</cp:lastModifiedBy>
  <cp:revision>16</cp:revision>
  <dcterms:created xsi:type="dcterms:W3CDTF">2006-08-16T00:00:00Z</dcterms:created>
  <dcterms:modified xsi:type="dcterms:W3CDTF">2026-07-12T13:32:02Z</dcterms:modified>
  <dc:identifier>DAG-4jJvMTk</dc:identifier>
</cp:coreProperties>
</file>