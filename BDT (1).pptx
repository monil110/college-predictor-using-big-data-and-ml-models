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4" r:id="rId19"/>
    <p:sldId id="258" r:id="rId4"/>
    <p:sldId id="267" r:id="rId6"/>
    <p:sldId id="271" r:id="rId7"/>
    <p:sldId id="273" r:id="rId8"/>
    <p:sldId id="275" r:id="rId20"/>
    <p:sldId id="266" r:id="rId5"/>
    <p:sldId id="269" r:id="rId9"/>
    <p:sldId id="272" r:id="rId10"/>
    <p:sldId id="270" r:id="rId11"/>
    <p:sldId id="276" r:id="rId21"/>
    <p:sldId id="277" r:id="rId22"/>
    <p:sldId id="265" r:id="rId12"/>
  </p:sldIdLst>
  <p:sldSz cx="18288000" cy="10287000"/>
  <p:notesSz cx="6858000" cy="9144000"/>
  <p:embeddedFontLs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9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5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3.xml"/><Relationship Id="rId20" Type="http://schemas.openxmlformats.org/officeDocument/2006/relationships/slide" Target="slides/slide8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svg"/><Relationship Id="rId5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Relationship Id="rId5" Type="http://schemas.openxmlformats.org/officeDocument/2006/relationships/hyperlink" Target="https://arxiv.org/abs/2401.11698" TargetMode="External"/><Relationship Id="rId6" Type="http://schemas.openxmlformats.org/officeDocument/2006/relationships/hyperlink" Target="https://arxiv.org/abs/2507.15862" TargetMode="External"/><Relationship Id="rId7" Type="http://schemas.openxmlformats.org/officeDocument/2006/relationships/hyperlink" Target="https://arxiv.org/abs/2509.22560" TargetMode="External"/><Relationship Id="rId8" Type="http://schemas.openxmlformats.org/officeDocument/2006/relationships/hyperlink" Target="https://ieeexplore.ieee.org/document/10151595" TargetMode="External"/><Relationship Id="rId9" Type="http://schemas.openxmlformats.org/officeDocument/2006/relationships/hyperlink" Target="https://arxiv.org/abs/1711.09279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Relationship Id="rId5" Type="http://schemas.openxmlformats.org/officeDocument/2006/relationships/hyperlink" Target="https://ieeexplore.ieee.org/document/10928329" TargetMode="External"/><Relationship Id="rId6" Type="http://schemas.openxmlformats.org/officeDocument/2006/relationships/hyperlink" Target="https://arxiv.org/abs/2305.17094" TargetMode="External"/><Relationship Id="rId7" Type="http://schemas.openxmlformats.org/officeDocument/2006/relationships/hyperlink" Target="https://arxiv.org/abs/1810.11363" TargetMode="External"/><Relationship Id="rId8" Type="http://schemas.openxmlformats.org/officeDocument/2006/relationships/hyperlink" Target="https://arxiv.org/abs/2508.15105" TargetMode="External"/><Relationship Id="rId9" Type="http://schemas.openxmlformats.org/officeDocument/2006/relationships/hyperlink" Target="https://arxiv.org/abs/2101.07344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17760" y="31227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71532" y="2644147"/>
            <a:ext cx="8743950" cy="711026"/>
            <a:chOff x="0" y="0"/>
            <a:chExt cx="8290560" cy="6741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290560" cy="674154"/>
            </a:xfrm>
            <a:custGeom>
              <a:avLst/>
              <a:gdLst/>
              <a:ahLst/>
              <a:cxnLst/>
              <a:rect l="l" t="t" r="r" b="b"/>
              <a:pathLst>
                <a:path w="8290560" h="674154">
                  <a:moveTo>
                    <a:pt x="0" y="0"/>
                  </a:moveTo>
                  <a:lnTo>
                    <a:pt x="8290560" y="0"/>
                  </a:lnTo>
                  <a:lnTo>
                    <a:pt x="8290560" y="674154"/>
                  </a:lnTo>
                  <a:lnTo>
                    <a:pt x="0" y="674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143" b="-188099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290560" cy="7027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9"/>
                </a:lnSpc>
              </a:pPr>
              <a:r>
                <a:rPr lang="en-US" sz="3599" b="1" dirty="0">
                  <a:solidFill>
                    <a:srgbClr val="0033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VI SEMESTER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72222" y="4098388"/>
            <a:ext cx="4798404" cy="1043418"/>
            <a:chOff x="-225828" y="-197944"/>
            <a:chExt cx="4549597" cy="9893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23769" cy="791371"/>
            </a:xfrm>
            <a:custGeom>
              <a:avLst/>
              <a:gdLst/>
              <a:ahLst/>
              <a:cxnLst/>
              <a:rect l="l" t="t" r="r" b="b"/>
              <a:pathLst>
                <a:path w="4323769" h="791371">
                  <a:moveTo>
                    <a:pt x="0" y="0"/>
                  </a:moveTo>
                  <a:lnTo>
                    <a:pt x="4323769" y="0"/>
                  </a:lnTo>
                  <a:lnTo>
                    <a:pt x="4323769" y="791371"/>
                  </a:lnTo>
                  <a:lnTo>
                    <a:pt x="0" y="791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458" b="-56459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-225828" y="-197944"/>
              <a:ext cx="4323766" cy="8199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9"/>
                </a:lnSpc>
              </a:pPr>
              <a:r>
                <a:rPr lang="en-US" sz="3599" b="1" dirty="0">
                  <a:solidFill>
                    <a:srgbClr val="CC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Phase-1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10194" y="5530939"/>
            <a:ext cx="13285432" cy="2594758"/>
            <a:chOff x="-586719" y="-19050"/>
            <a:chExt cx="12596557" cy="2460215"/>
          </a:xfrm>
        </p:grpSpPr>
        <p:sp>
          <p:nvSpPr>
            <p:cNvPr id="10" name="Freeform 10"/>
            <p:cNvSpPr/>
            <p:nvPr/>
          </p:nvSpPr>
          <p:spPr>
            <a:xfrm>
              <a:off x="-586719" y="305919"/>
              <a:ext cx="12009837" cy="2135246"/>
            </a:xfrm>
            <a:custGeom>
              <a:avLst/>
              <a:gdLst/>
              <a:ahLst/>
              <a:cxnLst/>
              <a:rect l="l" t="t" r="r" b="b"/>
              <a:pathLst>
                <a:path w="12009837" h="2135246">
                  <a:moveTo>
                    <a:pt x="0" y="0"/>
                  </a:moveTo>
                  <a:lnTo>
                    <a:pt x="12009837" y="0"/>
                  </a:lnTo>
                  <a:lnTo>
                    <a:pt x="12009837" y="2135246"/>
                  </a:lnTo>
                  <a:lnTo>
                    <a:pt x="0" y="2135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5" r="30968" b="-25654"/>
              </a:stretch>
            </a:blipFill>
          </p:spPr>
          <p:txBody>
            <a:bodyPr/>
            <a:lstStyle/>
            <a:p>
              <a:pPr algn="ctr"/>
              <a:r>
                <a:rPr lang="en-US" sz="4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PredictMe</a:t>
              </a:r>
              <a:r>
                <a: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 algn="ctr"/>
              <a:r>
                <a: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Big Data &amp; ML Platform for College Admission Prediction</a:t>
              </a:r>
              <a:endPara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2009838" cy="21542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39"/>
                </a:lnSpc>
              </a:pPr>
              <a:endParaRPr lang="en-US" sz="4199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86715" y="4716382"/>
            <a:ext cx="3328960" cy="854088"/>
            <a:chOff x="-88607" y="-19044"/>
            <a:chExt cx="3156347" cy="809801"/>
          </a:xfrm>
        </p:grpSpPr>
        <p:sp>
          <p:nvSpPr>
            <p:cNvPr id="13" name="Freeform 13"/>
            <p:cNvSpPr/>
            <p:nvPr/>
          </p:nvSpPr>
          <p:spPr>
            <a:xfrm>
              <a:off x="-88607" y="0"/>
              <a:ext cx="3154189" cy="790757"/>
            </a:xfrm>
            <a:custGeom>
              <a:avLst/>
              <a:gdLst/>
              <a:ahLst/>
              <a:cxnLst/>
              <a:rect l="l" t="t" r="r" b="b"/>
              <a:pathLst>
                <a:path w="3154189" h="790757">
                  <a:moveTo>
                    <a:pt x="0" y="0"/>
                  </a:moveTo>
                  <a:lnTo>
                    <a:pt x="3154189" y="0"/>
                  </a:lnTo>
                  <a:lnTo>
                    <a:pt x="3154189" y="790757"/>
                  </a:lnTo>
                  <a:lnTo>
                    <a:pt x="0" y="7907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203" b="-62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-86445" y="-19044"/>
              <a:ext cx="3154185" cy="809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43195" y="70184"/>
            <a:ext cx="4560195" cy="1599320"/>
          </a:xfrm>
          <a:custGeom>
            <a:avLst/>
            <a:gdLst/>
            <a:ahLst/>
            <a:cxnLst/>
            <a:rect l="l" t="t" r="r" b="b"/>
            <a:pathLst>
              <a:path w="4560195" h="1599320">
                <a:moveTo>
                  <a:pt x="0" y="0"/>
                </a:moveTo>
                <a:lnTo>
                  <a:pt x="4560195" y="0"/>
                </a:lnTo>
                <a:lnTo>
                  <a:pt x="4560195" y="1599321"/>
                </a:lnTo>
                <a:lnTo>
                  <a:pt x="0" y="1599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304" t="-33606" r="-169409" b="-41664"/>
            </a:stretch>
          </a:blipFill>
        </p:spPr>
      </p:sp>
      <p:sp>
        <p:nvSpPr>
          <p:cNvPr id="16" name="Freeform 16" descr="Goal 9: Industry, innovation and infrastructure - The Global Goals"/>
          <p:cNvSpPr/>
          <p:nvPr/>
        </p:nvSpPr>
        <p:spPr>
          <a:xfrm>
            <a:off x="8087462" y="869844"/>
            <a:ext cx="2112090" cy="1513174"/>
          </a:xfrm>
          <a:custGeom>
            <a:avLst/>
            <a:gdLst/>
            <a:ahLst/>
            <a:cxnLst/>
            <a:rect l="l" t="t" r="r" b="b"/>
            <a:pathLst>
              <a:path w="2112090" h="1513174">
                <a:moveTo>
                  <a:pt x="0" y="0"/>
                </a:moveTo>
                <a:lnTo>
                  <a:pt x="2112090" y="0"/>
                </a:lnTo>
                <a:lnTo>
                  <a:pt x="2112090" y="1513175"/>
                </a:lnTo>
                <a:lnTo>
                  <a:pt x="0" y="1513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9364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534871" y="3419443"/>
            <a:ext cx="11854780" cy="70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5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BIG DATA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47796" y="325881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637" y="48330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85674"/>
              </p:ext>
            </p:extLst>
          </p:nvPr>
        </p:nvGraphicFramePr>
        <p:xfrm>
          <a:off x="1967808" y="2557635"/>
          <a:ext cx="14352384" cy="2585865"/>
        </p:xfrm>
        <a:graphic>
          <a:graphicData uri="http://schemas.openxmlformats.org/drawingml/2006/table">
            <a:tbl>
              <a:tblPr/>
              <a:tblGrid>
                <a:gridCol w="4892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2663">
                <a:tc>
                  <a:txBody>
                    <a:bodyPr/>
                    <a:lstStyle/>
                    <a:p>
                      <a:pPr algn="l">
                        <a:lnSpc>
                          <a:spcPts val="3375"/>
                        </a:lnSpc>
                        <a:defRPr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Alroy Deon Saldanha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37"/>
                        </a:lnSpc>
                        <a:defRPr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Aniket RT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37"/>
                        </a:lnSpc>
                        <a:defRPr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Amogh AP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202">
                <a:tc>
                  <a:txBody>
                    <a:bodyPr/>
                    <a:lstStyle/>
                    <a:p>
                      <a:pPr algn="l">
                        <a:lnSpc>
                          <a:spcPts val="3375"/>
                        </a:lnSpc>
                        <a:defRPr/>
                      </a:pPr>
                      <a:r>
                        <a:rPr lang="en-US" sz="2812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 Bold"/>
                          <a:cs typeface="Times New Roman" panose="02020603050405020304" pitchFamily="18" charset="0"/>
                          <a:sym typeface="Times New Roman Bold"/>
                        </a:rPr>
                        <a:t>1RV23AI012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37"/>
                        </a:lnSpc>
                        <a:defRPr/>
                      </a:pPr>
                      <a:r>
                        <a:rPr lang="en-US" sz="2812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 Bold"/>
                          <a:cs typeface="Times New Roman" panose="02020603050405020304" pitchFamily="18" charset="0"/>
                          <a:sym typeface="Times New Roman Bold"/>
                        </a:rPr>
                        <a:t>1RV23AI017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37"/>
                        </a:lnSpc>
                        <a:defRPr/>
                      </a:pPr>
                      <a:r>
                        <a:rPr lang="en-US" sz="2812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 Bold"/>
                          <a:cs typeface="Times New Roman" panose="02020603050405020304" pitchFamily="18" charset="0"/>
                          <a:sym typeface="Times New Roman Bold"/>
                        </a:rPr>
                        <a:t>1RV23AI013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7280278" y="571252"/>
            <a:ext cx="3727444" cy="47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44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</a:t>
            </a:r>
            <a:endParaRPr lang="en-US" sz="4400" b="1" dirty="0">
              <a:solidFill>
                <a:srgbClr val="C00000"/>
              </a:solidFill>
              <a:latin typeface="Times New Roman Bold"/>
              <a:ea typeface="Times New Roman Bold"/>
              <a:cs typeface="Times New Roman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/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/>
          <p:cNvSpPr txBox="1"/>
          <p:nvPr/>
        </p:nvSpPr>
        <p:spPr>
          <a:xfrm>
            <a:off x="820000" y="1620000"/>
            <a:ext cx="16648000" cy="1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Times New Roman"/>
              </a:rPr>
              <a:t>India's national and state-level entrance exams </a:t>
            </a:r>
            <a:r>
              <a:rPr sz="2000" b="1">
                <a:solidFill>
                  <a:srgbClr val="222222"/>
                </a:solidFill>
                <a:latin typeface="Times New Roman"/>
              </a:rPr>
              <a:t>(JEE, NEET, KCET, COMEDK)</a:t>
            </a:r>
            <a:r>
              <a:rPr sz="2000" b="0">
                <a:solidFill>
                  <a:srgbClr val="222222"/>
                </a:solidFill>
                <a:latin typeface="Times New Roman"/>
              </a:rPr>
              <a:t> each publish cutoff and closing-rank data every admission cycle, spread across inconsistent government PDFs, spreadsheets, and portals.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000" y="3346110"/>
            <a:ext cx="8214000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0000" y="349611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0000" y="3496110"/>
            <a:ext cx="7404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1F4E79"/>
                </a:solidFill>
                <a:latin typeface="Times New Roman"/>
              </a:rPr>
              <a:t>Ingest &amp; Unify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000" y="3996110"/>
            <a:ext cx="7914000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PredictMe ingests, cleans, and unifies counselling data at scale using Apache Spark.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4000" y="3346110"/>
            <a:ext cx="8214000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04000" y="3496110"/>
            <a:ext cx="400000" cy="400000"/>
          </a:xfrm>
          <a:prstGeom prst="ellipse">
            <a:avLst/>
          </a:prstGeom>
          <a:solidFill>
            <a:srgbClr val="1E7A45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4000" y="3496110"/>
            <a:ext cx="7404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1E7A45"/>
                </a:solidFill>
                <a:latin typeface="Times New Roman"/>
              </a:rPr>
              <a:t>Predict Probability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4000" y="3996110"/>
            <a:ext cx="7914000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Domain-specific ML models estimate admission probability for a given rank, category, and quota.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000" y="4775558"/>
            <a:ext cx="8214000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0000" y="4925558"/>
            <a:ext cx="400000" cy="400000"/>
          </a:xfrm>
          <a:prstGeom prst="ellipse">
            <a:avLst/>
          </a:prstGeom>
          <a:solidFill>
            <a:srgbClr val="B9770E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0000" y="4925558"/>
            <a:ext cx="7404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B9770E"/>
                </a:solidFill>
                <a:latin typeface="Times New Roman"/>
              </a:rPr>
              <a:t>Serve in Real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000" y="5425558"/>
            <a:ext cx="7914000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A FastAPI backend with Redis caching returns predictions in sub-10ms, shown on a React frontend.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4000" y="4775558"/>
            <a:ext cx="8214000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04000" y="4925558"/>
            <a:ext cx="400000" cy="400000"/>
          </a:xfrm>
          <a:prstGeom prst="ellipse">
            <a:avLst/>
          </a:prstGeom>
          <a:solidFill>
            <a:srgbClr val="6C3483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4000" y="4925558"/>
            <a:ext cx="7404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6C3483"/>
                </a:solidFill>
                <a:latin typeface="Times New Roman"/>
              </a:rPr>
              <a:t>Four Exam Domains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4000" y="5425558"/>
            <a:ext cx="7914000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One unified platform spans JEE, NEET UG / PG, KCET, and COMEDK — data engineering meets real-time serving.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/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Identification of Problem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/>
          <p:cNvSpPr txBox="1"/>
          <p:nvPr/>
        </p:nvSpPr>
        <p:spPr>
          <a:xfrm>
            <a:off x="820000" y="1620000"/>
            <a:ext cx="16648000" cy="9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Times New Roman"/>
              </a:rPr>
              <a:t>Every year, </a:t>
            </a:r>
            <a:r>
              <a:rPr sz="2000" b="1">
                <a:solidFill>
                  <a:srgbClr val="222222"/>
                </a:solidFill>
                <a:latin typeface="Times New Roman"/>
              </a:rPr>
              <a:t>lakhs of JEE, NEET, KCET and COMEDK candidates</a:t>
            </a:r>
            <a:r>
              <a:rPr sz="2000" b="0">
                <a:solidFill>
                  <a:srgbClr val="222222"/>
                </a:solidFill>
                <a:latin typeface="Times New Roman"/>
              </a:rPr>
              <a:t> receive a rank or percentile but have no reliable way to know which colleges and courses they can realistically get into.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000" y="3166110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0000" y="331611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0000" y="3316110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1F4E79"/>
                </a:solidFill>
                <a:latin typeface="Times New Roman"/>
              </a:rPr>
              <a:t>Fragmented, Messy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000" y="3816110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Counselling / cutoff data published as inconsistent CSVs, wide-header Excel sheets, and scanned tables.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2666" y="3166110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92666" y="3316110"/>
            <a:ext cx="400000" cy="400000"/>
          </a:xfrm>
          <a:prstGeom prst="ellipse">
            <a:avLst/>
          </a:prstGeom>
          <a:solidFill>
            <a:srgbClr val="1E7A45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2666" y="3316110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1E7A45"/>
                </a:solidFill>
                <a:latin typeface="Times New Roman"/>
              </a:rPr>
              <a:t>Scale Beyond Machines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666" y="3816110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Years of allotment records across four exams are too large for spreadsheets or single-threaded scripts.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065332" y="3166110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215332" y="3316110"/>
            <a:ext cx="400000" cy="400000"/>
          </a:xfrm>
          <a:prstGeom prst="ellipse">
            <a:avLst/>
          </a:prstGeom>
          <a:solidFill>
            <a:srgbClr val="B9770E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25332" y="3316110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B9770E"/>
                </a:solidFill>
                <a:latin typeface="Times New Roman"/>
              </a:rPr>
              <a:t>High-Dimensional 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15332" y="3816110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Closing ranks vary across {Institute, Course, Category, Quota, Round} — poor fit for relational lookups.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0000" y="4595558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0000" y="4745558"/>
            <a:ext cx="400000" cy="400000"/>
          </a:xfrm>
          <a:prstGeom prst="ellipse">
            <a:avLst/>
          </a:prstGeom>
          <a:solidFill>
            <a:srgbClr val="6C3483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0000" y="4745558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6C3483"/>
                </a:solidFill>
                <a:latin typeface="Times New Roman"/>
              </a:rPr>
              <a:t>No Sense of Probability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000" y="5245558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Naive nearest-rank lookups give only a rigid pass / fail answer, not a likelihood of admission.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2666" y="4595558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92666" y="4745558"/>
            <a:ext cx="400000" cy="400000"/>
          </a:xfrm>
          <a:prstGeom prst="ellipse">
            <a:avLst/>
          </a:prstGeom>
          <a:solidFill>
            <a:srgbClr val="2C3E6B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2666" y="4745558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2C3E6B"/>
                </a:solidFill>
                <a:latin typeface="Times New Roman"/>
              </a:rPr>
              <a:t>No Unified Real-Time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2666" y="5245558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Existing predictors are single-exam, non-scalable, and can't serve lakhs of concurrent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E3737-053D-330A-35C1-EB6E65542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9AE700-0CB0-F5F8-67A1-82857D592E31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E386E34-C933-632B-0051-27E8714584B7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0F67526-BF8E-CC51-EC25-7BC162D8A0F3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EB630B3-8685-A9A4-5CA8-B7E3A486F7D6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477BAF1-2B2A-666A-85B0-B0EC4CCF02B9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AA2CBAE-2A07-6E59-8487-755DC5D6DA9F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5E58FED-B9DE-1096-5604-6199533A30A9}"/>
              </a:ext>
            </a:extLst>
          </p:cNvPr>
          <p:cNvSpPr txBox="1"/>
          <p:nvPr/>
        </p:nvSpPr>
        <p:spPr>
          <a:xfrm>
            <a:off x="3314700" y="2096067"/>
            <a:ext cx="12336338" cy="540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3"/>
              </a:lnSpc>
            </a:pPr>
            <a:endParaRPr lang="en-US" sz="327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23D7A04-02FF-690E-1341-376DD655F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959721"/>
              </p:ext>
            </p:extLst>
          </p:nvPr>
        </p:nvGraphicFramePr>
        <p:xfrm>
          <a:off x="533400" y="1184614"/>
          <a:ext cx="16916399" cy="8378484"/>
        </p:xfrm>
        <a:graphic>
          <a:graphicData uri="http://schemas.openxmlformats.org/drawingml/2006/table">
            <a:tbl>
              <a:tblPr/>
              <a:tblGrid>
                <a:gridCol w="821184">
                  <a:extLst>
                    <a:ext uri="{9D8B030D-6E8A-4147-A177-3AD203B41FA5}">
                      <a16:colId xmlns:a16="http://schemas.microsoft.com/office/drawing/2014/main" val="2434142306"/>
                    </a:ext>
                  </a:extLst>
                </a:gridCol>
                <a:gridCol w="4434396">
                  <a:extLst>
                    <a:ext uri="{9D8B030D-6E8A-4147-A177-3AD203B41FA5}">
                      <a16:colId xmlns:a16="http://schemas.microsoft.com/office/drawing/2014/main" val="410074594"/>
                    </a:ext>
                  </a:extLst>
                </a:gridCol>
                <a:gridCol w="985421">
                  <a:extLst>
                    <a:ext uri="{9D8B030D-6E8A-4147-A177-3AD203B41FA5}">
                      <a16:colId xmlns:a16="http://schemas.microsoft.com/office/drawing/2014/main" val="1217013354"/>
                    </a:ext>
                  </a:extLst>
                </a:gridCol>
                <a:gridCol w="4762870">
                  <a:extLst>
                    <a:ext uri="{9D8B030D-6E8A-4147-A177-3AD203B41FA5}">
                      <a16:colId xmlns:a16="http://schemas.microsoft.com/office/drawing/2014/main" val="3340473901"/>
                    </a:ext>
                  </a:extLst>
                </a:gridCol>
                <a:gridCol w="5912528">
                  <a:extLst>
                    <a:ext uri="{9D8B030D-6E8A-4147-A177-3AD203B41FA5}">
                      <a16:colId xmlns:a16="http://schemas.microsoft.com/office/drawing/2014/main" val="796995430"/>
                    </a:ext>
                  </a:extLst>
                </a:gridCol>
              </a:tblGrid>
              <a:tr h="5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 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Research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84265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5"/>
                        </a:rPr>
                        <a:t>Admission Prediction in Undergraduate Applications: An Interpretable Deep Learning 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Uses an interpretable, attention-based deep learning model over applicant profiles to predict undergraduate admission decisions.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Built for a single institution's holistic review data; no support for multi-exam, rank-based public counselling systems or distributed processing.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616640"/>
                  </a:ext>
                </a:extLst>
              </a:tr>
              <a:tr h="1772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6"/>
                        </a:rPr>
                        <a:t>Quantifying Holistic Review: A Multi-Modal Approach to College Admissions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Decomposes admission evaluation into human-aligned sub-components using multi-modal (text + numeric) features for transparent modeling.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Targets essay-driven US admissions; does not address rank/category/quota-based counselling used in Indian entrance exams (JEE/NEET/KCET).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441991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7"/>
                        </a:rPr>
                        <a:t>LLM-Augmented and Fair Machine Learning Framework for University Admission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Combines structured academic/demographic data with LLM-derived text signals and fairness constraints for admission prediction.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Heavy LLM inference cost makes it unsuitable for low-latency, high-throughput prediction serving at scale.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757841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8"/>
                        </a:rPr>
                        <a:t>Machine Learning Based Prediction Model for College Admission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Applies classical ML (Decision Tree, Random Forest, SVM) on historical cutoff/rank data to predict admission chances.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Single-domain, small-scale dataset processed on one machine; no distributed ingestion or category/quota-aware probabilistic modeling.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38329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9"/>
                        </a:rPr>
                        <a:t>A Big Data Analysis Framework Using Apache Spark and Deep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Combines Spark's distributed computation with a deep MLP model via cascade learning for scalable big-data analytics.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General-purpose framework not tailored to tabular rank/category prediction; no caching layer for repeated low-latency queries.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872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23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BFA5-D387-8103-CBB6-B879AAF07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C3ED35-24C2-3E22-FED5-244625320D1B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E4BE20E-2510-A7B0-DB23-7F264AC5C63E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2E14CD3-4E85-CD1A-F108-137363B45D1D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938160A-584E-FEE4-0D2B-E7034A4061EF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D21F208-2E74-1615-373A-94B8128A911D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DE6D1DA4-430A-B2C9-C7F4-15A93FEC93D1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40CDC25-324E-3ABC-EB3C-62F927888923}"/>
              </a:ext>
            </a:extLst>
          </p:cNvPr>
          <p:cNvSpPr txBox="1"/>
          <p:nvPr/>
        </p:nvSpPr>
        <p:spPr>
          <a:xfrm>
            <a:off x="3314700" y="2096067"/>
            <a:ext cx="12336338" cy="540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3"/>
              </a:lnSpc>
            </a:pPr>
            <a:endParaRPr lang="en-US" sz="327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651016A-5D94-D2FF-B6D5-5957E188F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67676"/>
              </p:ext>
            </p:extLst>
          </p:nvPr>
        </p:nvGraphicFramePr>
        <p:xfrm>
          <a:off x="533400" y="1184614"/>
          <a:ext cx="16916399" cy="8378484"/>
        </p:xfrm>
        <a:graphic>
          <a:graphicData uri="http://schemas.openxmlformats.org/drawingml/2006/table">
            <a:tbl>
              <a:tblPr/>
              <a:tblGrid>
                <a:gridCol w="821184">
                  <a:extLst>
                    <a:ext uri="{9D8B030D-6E8A-4147-A177-3AD203B41FA5}">
                      <a16:colId xmlns:a16="http://schemas.microsoft.com/office/drawing/2014/main" val="2434142306"/>
                    </a:ext>
                  </a:extLst>
                </a:gridCol>
                <a:gridCol w="4434396">
                  <a:extLst>
                    <a:ext uri="{9D8B030D-6E8A-4147-A177-3AD203B41FA5}">
                      <a16:colId xmlns:a16="http://schemas.microsoft.com/office/drawing/2014/main" val="410074594"/>
                    </a:ext>
                  </a:extLst>
                </a:gridCol>
                <a:gridCol w="985421">
                  <a:extLst>
                    <a:ext uri="{9D8B030D-6E8A-4147-A177-3AD203B41FA5}">
                      <a16:colId xmlns:a16="http://schemas.microsoft.com/office/drawing/2014/main" val="1217013354"/>
                    </a:ext>
                  </a:extLst>
                </a:gridCol>
                <a:gridCol w="4762870">
                  <a:extLst>
                    <a:ext uri="{9D8B030D-6E8A-4147-A177-3AD203B41FA5}">
                      <a16:colId xmlns:a16="http://schemas.microsoft.com/office/drawing/2014/main" val="3340473901"/>
                    </a:ext>
                  </a:extLst>
                </a:gridCol>
                <a:gridCol w="5912528">
                  <a:extLst>
                    <a:ext uri="{9D8B030D-6E8A-4147-A177-3AD203B41FA5}">
                      <a16:colId xmlns:a16="http://schemas.microsoft.com/office/drawing/2014/main" val="796995430"/>
                    </a:ext>
                  </a:extLst>
                </a:gridCol>
              </a:tblGrid>
              <a:tr h="5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 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Research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84265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5"/>
                        </a:rPr>
                        <a:t>Applying Machine Learning on Big Data With Apache Spark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Benchmarks ML models (Linear/RF/GBT/SVR/KNN) within Spark MLlib across large regression and classification datasets.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Evaluated on generic datasets (taxi trips, Netflix, Higgs); does not explore ETL for messy, multi-format admission/counselling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616640"/>
                  </a:ext>
                </a:extLst>
              </a:tr>
              <a:tr h="1772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6"/>
                        </a:rPr>
                        <a:t>Benchmarking State-of-the-Art Gradient Boosting Algorithms for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Systematically compares GBM, XGBoost, LightGBM, and CatBoost on accuracy, runtime, and tuning cost with Bayesian optimization.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Purely a benchmarking study on generic datasets; findings not applied to a live, category-aware admission probability system.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441991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7"/>
                        </a:rPr>
                        <a:t>CatBoost: Gradient Boosting with Categorical Features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Introduces CatBoost's ordered boosting and native categorical handling, outperforming tuned XGBoost with default parameters.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Focused on the algorithm itself; no discussion of deployment, real-time serving, or integration with a distributed data pipeline.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757841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8"/>
                        </a:rPr>
                        <a:t>Declarative Data Pipeline for Large Scale ML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Proposes a modular “Pipes” framework that declaratively integrates ML capability inside Spark for large-scale ML services.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Emphasizes pipeline declarativity over user-facing low-latency serving or caching of repeated prediction queries.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38329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hlinkClick r:id="rId9"/>
                        </a:rPr>
                        <a:t>Accelerating Deep Learning Inference via Learned Caches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Proposes learned/neural caches to reduce DNN inference latency in prediction serving systems.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Targets deep-learning inference caching; does not address simple, high-throughput key-based caching (e.g. Redis) for tree-based tabular models.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872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653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24554-342D-75B6-927B-B9AFE0B3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672AB7-2E70-B39C-2C2B-EE8EA3587428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B5DE0AA-F53D-DAEF-C940-7E02BC407BDF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627ADC6-3006-71EC-7366-E59CD5915BDB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31F165F-BE0A-3756-3DDB-51FC563E0FC6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1575CA9-1669-E448-4AD7-A486FFE814AA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C18040C-6BE2-26C5-46B6-E7E66D7F5BAA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26A6720-7586-A688-5E25-5957128AF3BE}"/>
              </a:ext>
            </a:extLst>
          </p:cNvPr>
          <p:cNvSpPr txBox="1"/>
          <p:nvPr/>
        </p:nvSpPr>
        <p:spPr>
          <a:xfrm>
            <a:off x="3314700" y="2096067"/>
            <a:ext cx="12336338" cy="540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3"/>
              </a:lnSpc>
            </a:pPr>
            <a:endParaRPr lang="en-US" sz="327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7A182-1A4E-5EF2-A62C-3F01BB503E6D}"/>
              </a:ext>
            </a:extLst>
          </p:cNvPr>
          <p:cNvSpPr txBox="1"/>
          <p:nvPr/>
        </p:nvSpPr>
        <p:spPr>
          <a:xfrm>
            <a:off x="685800" y="1434792"/>
            <a:ext cx="16840200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Summary of Literature Survey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b="1"/>
              <a:t>A clear shift from rigid cutoff lookups </a:t>
            </a:r>
            <a:r>
              <a:rPr lang="en-US" sz="2800" dirty="0"/>
              <a:t>to ML-driven probability estimation (deep learning, gradient boosting) for admission and eligibility prediction.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b="1"/>
              <a:t>Gradient boosting libraries (XGBoost, LightGBM, CatBoost) </a:t>
            </a:r>
            <a:r>
              <a:rPr lang="en-US" sz="2800" dirty="0"/>
              <a:t>consistently outperform generic baselines on tabular, categorical-heavy data — motivating our use of CatBoost/XGBoost.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b="1"/>
              <a:t>Apache Spark is widely used </a:t>
            </a:r>
            <a:r>
              <a:rPr lang="en-US" sz="2800" dirty="0"/>
              <a:t>to scale ML pipelines, but most published pipelines target generic or single-domain datasets, not messy multi-format government counselling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b="1"/>
              <a:t>Caching/serving research </a:t>
            </a:r>
            <a:r>
              <a:rPr lang="en-US" sz="2800" dirty="0"/>
              <a:t>(learned caches, Redis-backed inference) shows large latency wins for repeated queries — a pattern well suited to admission prediction.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b="1"/>
              <a:t>Most existing admission-prediction work </a:t>
            </a:r>
            <a:r>
              <a:rPr lang="en-US" sz="2800" dirty="0"/>
              <a:t>is single-institution, single-exam, or purely academic, with no deployed real-time serving layer.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b="1"/>
              <a:t>Our proposed system, PredictMe, </a:t>
            </a:r>
            <a:r>
              <a:rPr lang="en-US" sz="2800" dirty="0"/>
              <a:t>unifies all of these: Spark-based distributed ETL across 4 exam domains, CatBoost/XGBoost probability modeling, Redis-cached FastAPI serving, and a real-time interactive frontend.</a:t>
            </a:r>
          </a:p>
        </p:txBody>
      </p:sp>
    </p:spTree>
    <p:extLst>
      <p:ext uri="{BB962C8B-B14F-4D97-AF65-F5344CB8AC3E}">
        <p14:creationId xmlns:p14="http://schemas.microsoft.com/office/powerpoint/2010/main" val="534414911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/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Definition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/>
          <p:cNvSpPr txBox="1"/>
          <p:nvPr/>
        </p:nvSpPr>
        <p:spPr>
          <a:xfrm>
            <a:off x="820000" y="1620000"/>
            <a:ext cx="16648000" cy="1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Times New Roman"/>
              </a:rPr>
              <a:t>Given a student's </a:t>
            </a:r>
            <a:r>
              <a:rPr sz="2000" b="1">
                <a:solidFill>
                  <a:srgbClr val="222222"/>
                </a:solidFill>
                <a:latin typeface="Times New Roman"/>
              </a:rPr>
              <a:t>rank/percentile, category, quota, and exam domain</a:t>
            </a:r>
            <a:r>
              <a:rPr sz="2000" b="0">
                <a:solidFill>
                  <a:srgbClr val="222222"/>
                </a:solidFill>
                <a:latin typeface="Times New Roman"/>
              </a:rPr>
              <a:t> (JEE / NEET / KCET / COMEDK), compute the probability of admission into every (Institute, Course) pair using historical closing-rank distributions.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000" y="3346110"/>
            <a:ext cx="8214000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0000" y="349611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0000" y="3496110"/>
            <a:ext cx="7404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1F4E79"/>
                </a:solidFill>
                <a:latin typeface="Times New Roman"/>
              </a:rPr>
              <a:t>Formal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000" y="3996110"/>
            <a:ext cx="7914000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Raw Counselling Data → Spark ETL → Feature Store → {Classifier / Regressors} → probability-ranked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4000" y="3346110"/>
            <a:ext cx="8214000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04000" y="3496110"/>
            <a:ext cx="400000" cy="400000"/>
          </a:xfrm>
          <a:prstGeom prst="ellipse">
            <a:avLst/>
          </a:prstGeom>
          <a:solidFill>
            <a:srgbClr val="1E7A45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4000" y="3496110"/>
            <a:ext cx="7404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1E7A45"/>
                </a:solidFill>
                <a:latin typeface="Times New Roman"/>
              </a:rPr>
              <a:t>Scale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4000" y="3996110"/>
            <a:ext cx="7914000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Process millions of historical records across 4 exam domains despite messy, inconsistent source formats.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000" y="4775558"/>
            <a:ext cx="8214000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0000" y="4925558"/>
            <a:ext cx="400000" cy="400000"/>
          </a:xfrm>
          <a:prstGeom prst="ellipse">
            <a:avLst/>
          </a:prstGeom>
          <a:solidFill>
            <a:srgbClr val="B9770E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0000" y="4925558"/>
            <a:ext cx="7404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B9770E"/>
                </a:solidFill>
                <a:latin typeface="Times New Roman"/>
              </a:rPr>
              <a:t>Latency Constraint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000" y="5425558"/>
            <a:ext cx="7914000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Repeated queries for the same {rank, category} must be served well under 10ms via caching.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4000" y="4775558"/>
            <a:ext cx="8214000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04000" y="4925558"/>
            <a:ext cx="400000" cy="400000"/>
          </a:xfrm>
          <a:prstGeom prst="ellipse">
            <a:avLst/>
          </a:prstGeom>
          <a:solidFill>
            <a:srgbClr val="6C3483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4000" y="4925558"/>
            <a:ext cx="7404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6C3483"/>
                </a:solidFill>
                <a:latin typeface="Times New Roman"/>
              </a:rPr>
              <a:t>Interface Constraint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4000" y="5425558"/>
            <a:ext cx="7914000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Results exposed through a responsive web UI usable by lakhs of concurrent students in season.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A2404-EBF1-1BF4-84B7-BF6E1E34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F4DBF5-36FF-FFEE-8FA7-ECEBF5A696C8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FA238AC-AA19-76E4-526D-715E1C529D22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72E9E0-FE0A-348F-4E8E-E1D11816F1A0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9B60617-73F7-A28D-91C5-FD911D08B78F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4220A29-9C4F-D816-8762-15FE18EB5506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Objectives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75163C2-E02F-4F2E-C142-896E04756723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Rounded Rectangle 9"/>
          <p:cNvSpPr/>
          <p:nvPr/>
        </p:nvSpPr>
        <p:spPr>
          <a:xfrm>
            <a:off x="820000" y="2149110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0000" y="229911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0000" y="2299110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1F4E79"/>
                </a:solidFill>
                <a:latin typeface="Times New Roman"/>
              </a:rPr>
              <a:t>Distributed Data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000" y="2799110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Ingest, clean, and partition multi-year, multi-format counselling datasets using Apache Spark.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2666" y="2149110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92666" y="2299110"/>
            <a:ext cx="400000" cy="400000"/>
          </a:xfrm>
          <a:prstGeom prst="ellipse">
            <a:avLst/>
          </a:prstGeom>
          <a:solidFill>
            <a:srgbClr val="1E7A45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2666" y="2299110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1E7A45"/>
                </a:solidFill>
                <a:latin typeface="Times New Roman"/>
              </a:rPr>
              <a:t>Predictive Feature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666" y="2799110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Aggregate {Institute, Course, Category, Quota} into closing-rank distributions stored as Parquet.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65332" y="2149110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215332" y="2299110"/>
            <a:ext cx="400000" cy="400000"/>
          </a:xfrm>
          <a:prstGeom prst="ellipse">
            <a:avLst/>
          </a:prstGeom>
          <a:solidFill>
            <a:srgbClr val="B9770E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25332" y="2299110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B9770E"/>
                </a:solidFill>
                <a:latin typeface="Times New Roman"/>
              </a:rPr>
              <a:t>Domain-Specific ML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15332" y="2799110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CatBoost / XGBoost classifiers (JEE) and regressors (NEET / KCET / COMEDK), tuned with Optuna.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000" y="3578558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0000" y="3728558"/>
            <a:ext cx="400000" cy="400000"/>
          </a:xfrm>
          <a:prstGeom prst="ellipse">
            <a:avLst/>
          </a:prstGeom>
          <a:solidFill>
            <a:srgbClr val="6C3483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0000" y="3728558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6C3483"/>
                </a:solidFill>
                <a:latin typeface="Times New Roman"/>
              </a:rPr>
              <a:t>Real-Time Serving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000" y="4228558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A unified FastAPI backend with Redis caching returns repeated queries in milliseconds.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2666" y="3578558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92666" y="3728558"/>
            <a:ext cx="400000" cy="400000"/>
          </a:xfrm>
          <a:prstGeom prst="ellipse">
            <a:avLst/>
          </a:prstGeom>
          <a:solidFill>
            <a:srgbClr val="2C3E6B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2666" y="3728558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2C3E6B"/>
                </a:solidFill>
                <a:latin typeface="Times New Roman"/>
              </a:rPr>
              <a:t>Interactive 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2666" y="4228558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A responsive React interface showing ranked “Safe” and “Likely” college-course options.</a:t>
            </a:r>
          </a:p>
        </p:txBody>
      </p:sp>
    </p:spTree>
    <p:extLst>
      <p:ext uri="{BB962C8B-B14F-4D97-AF65-F5344CB8AC3E}">
        <p14:creationId xmlns:p14="http://schemas.microsoft.com/office/powerpoint/2010/main" val="2290978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52B17-2230-DB31-1388-D1B438EDC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1F3352-0411-8B96-5729-9FE676D88433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6385AFD-544C-3EE6-10B1-F02784CB41B8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953B8CE-B09D-803F-7739-C3E82D3B9811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C9BA949-D882-77DB-3BB3-4B736796825B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3F37904-1FCC-8745-6284-9ACB98B816AB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Methodology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DE6341F-76C6-1760-945F-243B7E6085E3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Rounded Rectangle 9"/>
          <p:cNvSpPr/>
          <p:nvPr/>
        </p:nvSpPr>
        <p:spPr>
          <a:xfrm>
            <a:off x="820000" y="4550000"/>
            <a:ext cx="2929600" cy="1319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0000" y="4550000"/>
            <a:ext cx="2929600" cy="5600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80000" rIns="80000"/>
          <a:lstStyle/>
          <a:p>
            <a:pPr algn="ctr"/>
            <a:r>
              <a:rPr b="1" sz="1250">
                <a:solidFill>
                  <a:srgbClr val="FFFFFF"/>
                </a:solidFill>
                <a:latin typeface="Times New Roman"/>
              </a:rPr>
              <a:t>1. Ingest &amp; Partition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000" y="5230000"/>
            <a:ext cx="2689600" cy="519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3A3A3A"/>
                </a:solidFill>
                <a:latin typeface="Times New Roman"/>
              </a:rPr>
              <a:t>Raw JEE / NEET / KCET / COMEDK datasets ingested &amp; partitioned via Apache Spark.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69600" y="5119842"/>
            <a:ext cx="260000" cy="18000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49600" y="4550000"/>
            <a:ext cx="2929600" cy="1319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49600" y="4550000"/>
            <a:ext cx="2929600" cy="560000"/>
          </a:xfrm>
          <a:prstGeom prst="roundRect">
            <a:avLst>
              <a:gd name="adj" fmla="val 16000"/>
            </a:avLst>
          </a:prstGeom>
          <a:solidFill>
            <a:srgbClr val="1E7A45"/>
          </a:solidFill>
          <a:ln>
            <a:noFill/>
          </a:ln>
          <a:effectLst/>
        </p:spPr>
        <p:txBody>
          <a:bodyPr rtlCol="0" anchor="ctr" wrap="square" lIns="80000" rIns="80000"/>
          <a:lstStyle/>
          <a:p>
            <a:pPr algn="ctr"/>
            <a:r>
              <a:rPr b="1" sz="1250">
                <a:solidFill>
                  <a:srgbClr val="FFFFFF"/>
                </a:solidFill>
                <a:latin typeface="Times New Roman"/>
              </a:rPr>
              <a:t>2. Clean &amp; Unify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9600" y="5230000"/>
            <a:ext cx="2689600" cy="519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3A3A3A"/>
                </a:solidFill>
                <a:latin typeface="Times New Roman"/>
              </a:rPr>
              <a:t>Drop nulls, parse inconsistent headers, write unified Parquet storage.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99200" y="5119842"/>
            <a:ext cx="260000" cy="18000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79200" y="4550000"/>
            <a:ext cx="2929600" cy="1319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79200" y="4550000"/>
            <a:ext cx="2929600" cy="560000"/>
          </a:xfrm>
          <a:prstGeom prst="roundRect">
            <a:avLst>
              <a:gd name="adj" fmla="val 16000"/>
            </a:avLst>
          </a:prstGeom>
          <a:solidFill>
            <a:srgbClr val="B9770E"/>
          </a:solidFill>
          <a:ln>
            <a:noFill/>
          </a:ln>
          <a:effectLst/>
        </p:spPr>
        <p:txBody>
          <a:bodyPr rtlCol="0" anchor="ctr" wrap="square" lIns="80000" rIns="80000"/>
          <a:lstStyle/>
          <a:p>
            <a:pPr algn="ctr"/>
            <a:r>
              <a:rPr b="1" sz="1250">
                <a:solidFill>
                  <a:srgbClr val="FFFFFF"/>
                </a:solidFill>
                <a:latin typeface="Times New Roman"/>
              </a:rPr>
              <a:t>3. Feature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200" y="5230000"/>
            <a:ext cx="2689600" cy="519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3A3A3A"/>
                </a:solidFill>
                <a:latin typeface="Times New Roman"/>
              </a:rPr>
              <a:t>Aggregate by {Institute, Course, Category, Quota} into rank thresholds.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728800" y="5119842"/>
            <a:ext cx="260000" cy="18000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108800" y="4550000"/>
            <a:ext cx="2929600" cy="1319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108800" y="4550000"/>
            <a:ext cx="2929600" cy="560000"/>
          </a:xfrm>
          <a:prstGeom prst="roundRect">
            <a:avLst>
              <a:gd name="adj" fmla="val 16000"/>
            </a:avLst>
          </a:prstGeom>
          <a:solidFill>
            <a:srgbClr val="6C3483"/>
          </a:solidFill>
          <a:ln>
            <a:noFill/>
          </a:ln>
          <a:effectLst/>
        </p:spPr>
        <p:txBody>
          <a:bodyPr rtlCol="0" anchor="ctr" wrap="square" lIns="80000" rIns="80000"/>
          <a:lstStyle/>
          <a:p>
            <a:pPr algn="ctr"/>
            <a:r>
              <a:rPr b="1" sz="1250">
                <a:solidFill>
                  <a:srgbClr val="FFFFFF"/>
                </a:solidFill>
                <a:latin typeface="Times New Roman"/>
              </a:rPr>
              <a:t>4. Train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28800" y="5230000"/>
            <a:ext cx="2689600" cy="519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3A3A3A"/>
                </a:solidFill>
                <a:latin typeface="Times New Roman"/>
              </a:rPr>
              <a:t>CatBoost / XGBoost classifier (JEE) + regressors (others), tuned via Optuna.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4158400" y="5119842"/>
            <a:ext cx="260000" cy="18000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538400" y="4550000"/>
            <a:ext cx="2929600" cy="1319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538400" y="4550000"/>
            <a:ext cx="2929600" cy="560000"/>
          </a:xfrm>
          <a:prstGeom prst="roundRect">
            <a:avLst>
              <a:gd name="adj" fmla="val 16000"/>
            </a:avLst>
          </a:prstGeom>
          <a:solidFill>
            <a:srgbClr val="2C3E6B"/>
          </a:solidFill>
          <a:ln>
            <a:noFill/>
          </a:ln>
          <a:effectLst/>
        </p:spPr>
        <p:txBody>
          <a:bodyPr rtlCol="0" anchor="ctr" wrap="square" lIns="80000" rIns="80000"/>
          <a:lstStyle/>
          <a:p>
            <a:pPr algn="ctr"/>
            <a:r>
              <a:rPr b="1" sz="1250">
                <a:solidFill>
                  <a:srgbClr val="FFFFFF"/>
                </a:solidFill>
                <a:latin typeface="Times New Roman"/>
              </a:rPr>
              <a:t>5. Serve &amp; Present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58400" y="5230000"/>
            <a:ext cx="2689600" cy="519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3A3A3A"/>
                </a:solidFill>
                <a:latin typeface="Times New Roman"/>
              </a:rPr>
              <a:t>FastAPI + Redis cache results; React / Vite renders ranked Safe / Likely picks.</a:t>
            </a:r>
          </a:p>
        </p:txBody>
      </p:sp>
    </p:spTree>
    <p:extLst>
      <p:ext uri="{BB962C8B-B14F-4D97-AF65-F5344CB8AC3E}">
        <p14:creationId xmlns:p14="http://schemas.microsoft.com/office/powerpoint/2010/main" val="3852995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CEA11-B3BE-49CB-250A-E544A0E60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39886A-7DED-1F52-FA9A-6E7D306368B8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5DD7580-40BC-A0EC-E5C1-370F929E696F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E8C786D-140C-B3FE-5C3F-0168C712668F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FF8F687-8493-ABAB-48E4-57766E7659C6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DF341F1-09C1-0167-67D8-C4803D8BD058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 err="1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Architecture</a:t>
              </a:r>
              <a:endParaRPr lang="en-US" sz="60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BDB94C9C-CDD8-5A80-0CF2-C51B8D543AB1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 descr="scratch_pic_n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1943100"/>
            <a:ext cx="15240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00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796F6-EB12-2C30-0C77-710247652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BBA578-BD5D-E9D7-308D-E73EC35B4682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76B86A9-4037-B7B6-A2DA-9F76D726887F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3D5ACE4-0F97-5D78-5E4A-5403E9E62827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98D5AA7-69B8-37CE-CF54-329B1049FF15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E8FD2A0-E5BA-D262-99B3-207AFB20D55A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Tools and Techniques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3B7D1AE-2A7A-A015-B1BC-8A81A9F48A62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Rounded Rectangle 9"/>
          <p:cNvSpPr/>
          <p:nvPr/>
        </p:nvSpPr>
        <p:spPr>
          <a:xfrm>
            <a:off x="820000" y="2079170"/>
            <a:ext cx="5402666" cy="15591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0000" y="2079170"/>
            <a:ext cx="5402666" cy="48000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txBody>
          <a:bodyPr rtlCol="0" anchor="ctr" wrap="square" lIns="90000"/>
          <a:lstStyle/>
          <a:p>
            <a:pPr algn="ctr"/>
            <a:r>
              <a:rPr b="1" sz="1400">
                <a:solidFill>
                  <a:srgbClr val="FFFFFF"/>
                </a:solidFill>
                <a:latin typeface="Times New Roman"/>
              </a:rPr>
              <a:t>1. Data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000" y="2689170"/>
            <a:ext cx="5142666" cy="819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1F4E79"/>
                </a:solidFill>
                <a:latin typeface="Times New Roman"/>
              </a:rPr>
              <a:t>• Apache Spark (PySpark)</a:t>
            </a:r>
            <a:r>
              <a:rPr sz="1250">
                <a:solidFill>
                  <a:srgbClr val="3A3A3A"/>
                </a:solidFill>
                <a:latin typeface="Times New Roman"/>
              </a:rPr>
              <a:t> – distributed ETL across all exam domains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F4E79"/>
                </a:solidFill>
                <a:latin typeface="Times New Roman"/>
              </a:rPr>
              <a:t>• Parquet</a:t>
            </a:r>
            <a:r>
              <a:rPr sz="1250">
                <a:solidFill>
                  <a:srgbClr val="3A3A3A"/>
                </a:solidFill>
                <a:latin typeface="Times New Roman"/>
              </a:rPr>
              <a:t> – columnar storage, /data/processed/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F4E79"/>
                </a:solidFill>
                <a:latin typeface="Times New Roman"/>
              </a:rPr>
              <a:t>• Docker</a:t>
            </a:r>
            <a:r>
              <a:rPr sz="1250">
                <a:solidFill>
                  <a:srgbClr val="3A3A3A"/>
                </a:solidFill>
                <a:latin typeface="Times New Roman"/>
              </a:rPr>
              <a:t> – Spark + HDFS cluster for local dev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2666" y="2079170"/>
            <a:ext cx="5402666" cy="15591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2666" y="2079170"/>
            <a:ext cx="5402666" cy="480000"/>
          </a:xfrm>
          <a:prstGeom prst="roundRect">
            <a:avLst>
              <a:gd name="adj" fmla="val 16000"/>
            </a:avLst>
          </a:prstGeom>
          <a:solidFill>
            <a:srgbClr val="1E7A45"/>
          </a:solidFill>
          <a:ln>
            <a:noFill/>
          </a:ln>
          <a:effectLst/>
        </p:spPr>
        <p:txBody>
          <a:bodyPr rtlCol="0" anchor="ctr" wrap="square" lIns="90000"/>
          <a:lstStyle/>
          <a:p>
            <a:pPr algn="ctr"/>
            <a:r>
              <a:rPr b="1" sz="1400">
                <a:solidFill>
                  <a:srgbClr val="FFFFFF"/>
                </a:solidFill>
                <a:latin typeface="Times New Roman"/>
              </a:rPr>
              <a:t>2. Machine Learning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666" y="2689170"/>
            <a:ext cx="5142666" cy="819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1E7A45"/>
                </a:solidFill>
                <a:latin typeface="Times New Roman"/>
              </a:rPr>
              <a:t>• CatBoost</a:t>
            </a:r>
            <a:r>
              <a:rPr sz="1250">
                <a:solidFill>
                  <a:srgbClr val="3A3A3A"/>
                </a:solidFill>
                <a:latin typeface="Times New Roman"/>
              </a:rPr>
              <a:t> – categorical-native classifiers / regressors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7A45"/>
                </a:solidFill>
                <a:latin typeface="Times New Roman"/>
              </a:rPr>
              <a:t>• XGBoost</a:t>
            </a:r>
            <a:r>
              <a:rPr sz="1250">
                <a:solidFill>
                  <a:srgbClr val="3A3A3A"/>
                </a:solidFill>
                <a:latin typeface="Times New Roman"/>
              </a:rPr>
              <a:t> – gradient-boosted benchmarking models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7A45"/>
                </a:solidFill>
                <a:latin typeface="Times New Roman"/>
              </a:rPr>
              <a:t>• Optuna</a:t>
            </a:r>
            <a:r>
              <a:rPr sz="1250">
                <a:solidFill>
                  <a:srgbClr val="3A3A3A"/>
                </a:solidFill>
                <a:latin typeface="Times New Roman"/>
              </a:rPr>
              <a:t> – automated hyperparameter tuning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332" y="2079170"/>
            <a:ext cx="5402666" cy="15591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065332" y="2079170"/>
            <a:ext cx="5402666" cy="480000"/>
          </a:xfrm>
          <a:prstGeom prst="roundRect">
            <a:avLst>
              <a:gd name="adj" fmla="val 16000"/>
            </a:avLst>
          </a:prstGeom>
          <a:solidFill>
            <a:srgbClr val="B9770E"/>
          </a:solidFill>
          <a:ln>
            <a:noFill/>
          </a:ln>
          <a:effectLst/>
        </p:spPr>
        <p:txBody>
          <a:bodyPr rtlCol="0" anchor="ctr" wrap="square" lIns="90000"/>
          <a:lstStyle/>
          <a:p>
            <a:pPr algn="ctr"/>
            <a:r>
              <a:rPr b="1" sz="1400">
                <a:solidFill>
                  <a:srgbClr val="FFFFFF"/>
                </a:solidFill>
                <a:latin typeface="Times New Roman"/>
              </a:rPr>
              <a:t>3. Serving &amp;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5332" y="2689170"/>
            <a:ext cx="5142666" cy="819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B9770E"/>
                </a:solidFill>
                <a:latin typeface="Times New Roman"/>
              </a:rPr>
              <a:t>• FastAPI</a:t>
            </a:r>
            <a:r>
              <a:rPr sz="1250">
                <a:solidFill>
                  <a:srgbClr val="3A3A3A"/>
                </a:solidFill>
                <a:latin typeface="Times New Roman"/>
              </a:rPr>
              <a:t> – unified REST microservice, 4 domain routes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B9770E"/>
                </a:solidFill>
                <a:latin typeface="Times New Roman"/>
              </a:rPr>
              <a:t>• Redis</a:t>
            </a:r>
            <a:r>
              <a:rPr sz="1250">
                <a:solidFill>
                  <a:srgbClr val="3A3A3A"/>
                </a:solidFill>
                <a:latin typeface="Times New Roman"/>
              </a:rPr>
              <a:t> – sub-10ms cache for repeated queries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000" y="3858320"/>
            <a:ext cx="5402666" cy="15591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0000" y="3858320"/>
            <a:ext cx="5402666" cy="480000"/>
          </a:xfrm>
          <a:prstGeom prst="roundRect">
            <a:avLst>
              <a:gd name="adj" fmla="val 16000"/>
            </a:avLst>
          </a:prstGeom>
          <a:solidFill>
            <a:srgbClr val="6C3483"/>
          </a:solidFill>
          <a:ln>
            <a:noFill/>
          </a:ln>
          <a:effectLst/>
        </p:spPr>
        <p:txBody>
          <a:bodyPr rtlCol="0" anchor="ctr" wrap="square" lIns="90000"/>
          <a:lstStyle/>
          <a:p>
            <a:pPr algn="ctr"/>
            <a:r>
              <a:rPr b="1" sz="1400">
                <a:solidFill>
                  <a:srgbClr val="FFFFFF"/>
                </a:solidFill>
                <a:latin typeface="Times New Roman"/>
              </a:rPr>
              <a:t>4.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000" y="4468320"/>
            <a:ext cx="5142666" cy="819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6C3483"/>
                </a:solidFill>
                <a:latin typeface="Times New Roman"/>
              </a:rPr>
              <a:t>• React + Vite</a:t>
            </a:r>
            <a:r>
              <a:rPr sz="1250">
                <a:solidFill>
                  <a:srgbClr val="3A3A3A"/>
                </a:solidFill>
                <a:latin typeface="Times New Roman"/>
              </a:rPr>
              <a:t> – glassmorphism prediction UI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6C3483"/>
                </a:solidFill>
                <a:latin typeface="Times New Roman"/>
              </a:rPr>
              <a:t>• Axios</a:t>
            </a:r>
            <a:r>
              <a:rPr sz="1250">
                <a:solidFill>
                  <a:srgbClr val="3A3A3A"/>
                </a:solidFill>
                <a:latin typeface="Times New Roman"/>
              </a:rPr>
              <a:t> – API calls to FastAPI on port 8000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2666" y="3858320"/>
            <a:ext cx="5402666" cy="15591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2666" y="3858320"/>
            <a:ext cx="5402666" cy="480000"/>
          </a:xfrm>
          <a:prstGeom prst="roundRect">
            <a:avLst>
              <a:gd name="adj" fmla="val 16000"/>
            </a:avLst>
          </a:prstGeom>
          <a:solidFill>
            <a:srgbClr val="2C3E6B"/>
          </a:solidFill>
          <a:ln>
            <a:noFill/>
          </a:ln>
          <a:effectLst/>
        </p:spPr>
        <p:txBody>
          <a:bodyPr rtlCol="0" anchor="ctr" wrap="square" lIns="90000"/>
          <a:lstStyle/>
          <a:p>
            <a:pPr algn="ctr"/>
            <a:r>
              <a:rPr b="1" sz="1400">
                <a:solidFill>
                  <a:srgbClr val="FFFFFF"/>
                </a:solidFill>
                <a:latin typeface="Times New Roman"/>
              </a:rPr>
              <a:t>5. Data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666" y="4468320"/>
            <a:ext cx="5142666" cy="819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2C3E6B"/>
                </a:solidFill>
                <a:latin typeface="Times New Roman"/>
              </a:rPr>
              <a:t>• Official Counselling Data</a:t>
            </a:r>
            <a:r>
              <a:rPr sz="1250">
                <a:solidFill>
                  <a:srgbClr val="3A3A3A"/>
                </a:solidFill>
                <a:latin typeface="Times New Roman"/>
              </a:rPr>
              <a:t> – historical JEE, NEET, KCET, COMEDK records</a:t>
            </a:r>
          </a:p>
        </p:txBody>
      </p:sp>
    </p:spTree>
    <p:extLst>
      <p:ext uri="{BB962C8B-B14F-4D97-AF65-F5344CB8AC3E}">
        <p14:creationId xmlns:p14="http://schemas.microsoft.com/office/powerpoint/2010/main" val="417775401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/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Expected Outcome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Rounded Rectangle 9"/>
          <p:cNvSpPr/>
          <p:nvPr/>
        </p:nvSpPr>
        <p:spPr>
          <a:xfrm>
            <a:off x="820000" y="2149110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0000" y="229911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0000" y="2299110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1F4E79"/>
                </a:solidFill>
                <a:latin typeface="Times New Roman"/>
              </a:rPr>
              <a:t>Unified Web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000" y="2799110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Enter rank, category, and quota for JEE / NEET / KCET / COMEDK and get a ranked list of eligible options.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2666" y="2149110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92666" y="2299110"/>
            <a:ext cx="400000" cy="400000"/>
          </a:xfrm>
          <a:prstGeom prst="ellipse">
            <a:avLst/>
          </a:prstGeom>
          <a:solidFill>
            <a:srgbClr val="1E7A45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2666" y="2299110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1E7A45"/>
                </a:solidFill>
                <a:latin typeface="Times New Roman"/>
              </a:rPr>
              <a:t>Probability Tiers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666" y="2799110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“Safe” / “Likely” probability tiers replace a rigid pass / fail cutoff.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65332" y="2149110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215332" y="2299110"/>
            <a:ext cx="400000" cy="400000"/>
          </a:xfrm>
          <a:prstGeom prst="ellipse">
            <a:avLst/>
          </a:prstGeom>
          <a:solidFill>
            <a:srgbClr val="B9770E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25332" y="2299110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B9770E"/>
                </a:solidFill>
                <a:latin typeface="Times New Roman"/>
              </a:rPr>
              <a:t>Fast Distributed Pipelines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15332" y="2799110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Spark processes multi-year, multi-format datasets end-to-end in minutes, not hours.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000" y="3578558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0000" y="3728558"/>
            <a:ext cx="400000" cy="400000"/>
          </a:xfrm>
          <a:prstGeom prst="ellipse">
            <a:avLst/>
          </a:prstGeom>
          <a:solidFill>
            <a:srgbClr val="6C3483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0000" y="3728558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6C3483"/>
                </a:solidFill>
                <a:latin typeface="Times New Roman"/>
              </a:rPr>
              <a:t>Sub-10ms Responses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000" y="4228558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Redis caching supports high concurrency during peak counselling season.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2666" y="3578558"/>
            <a:ext cx="5402666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92666" y="3728558"/>
            <a:ext cx="400000" cy="400000"/>
          </a:xfrm>
          <a:prstGeom prst="ellipse">
            <a:avLst/>
          </a:prstGeom>
          <a:solidFill>
            <a:srgbClr val="2C3E6B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2666" y="3728558"/>
            <a:ext cx="4592666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2C3E6B"/>
                </a:solidFill>
                <a:latin typeface="Times New Roman"/>
              </a:rPr>
              <a:t>Extensible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2666" y="4228558"/>
            <a:ext cx="5102666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New exams or rounds onboard via a new ingestion script and model — no serving / UI changes.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/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Rounded Rectangle 9"/>
          <p:cNvSpPr/>
          <p:nvPr/>
        </p:nvSpPr>
        <p:spPr>
          <a:xfrm>
            <a:off x="820000" y="2149110"/>
            <a:ext cx="8214000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0000" y="2299110"/>
            <a:ext cx="400000" cy="400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0000" y="2299110"/>
            <a:ext cx="7404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1F4E79"/>
                </a:solidFill>
                <a:latin typeface="Times New Roman"/>
              </a:rPr>
              <a:t>Big Data Meets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000" y="2799110"/>
            <a:ext cx="7914000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Apache Spark, HDFS, and Parquet combine with CatBoost / XGBoost to turn fragmented data into a fast prediction service.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4000" y="2149110"/>
            <a:ext cx="8214000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04000" y="2299110"/>
            <a:ext cx="400000" cy="400000"/>
          </a:xfrm>
          <a:prstGeom prst="ellipse">
            <a:avLst/>
          </a:prstGeom>
          <a:solidFill>
            <a:srgbClr val="1E7A45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14000" y="2299110"/>
            <a:ext cx="7404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1E7A45"/>
                </a:solidFill>
                <a:latin typeface="Times New Roman"/>
              </a:rPr>
              <a:t>Probabilistic, Not Rigid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4000" y="2799110"/>
            <a:ext cx="7914000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Category / quota-aware predictions give students a realistic, data-driven view of admission chances.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000" y="3578558"/>
            <a:ext cx="8214000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0000" y="3728558"/>
            <a:ext cx="400000" cy="400000"/>
          </a:xfrm>
          <a:prstGeom prst="ellipse">
            <a:avLst/>
          </a:prstGeom>
          <a:solidFill>
            <a:srgbClr val="B9770E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0000" y="3728558"/>
            <a:ext cx="7404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B9770E"/>
                </a:solidFill>
                <a:latin typeface="Times New Roman"/>
              </a:rPr>
              <a:t>Real-Time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0000" y="4228558"/>
            <a:ext cx="7914000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The Redis-cached FastAPI layer and React frontend show Big Data delivered as a responsive product.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54000" y="3578558"/>
            <a:ext cx="8214000" cy="1209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04000" y="3728558"/>
            <a:ext cx="400000" cy="400000"/>
          </a:xfrm>
          <a:prstGeom prst="ellipse">
            <a:avLst/>
          </a:prstGeom>
          <a:solidFill>
            <a:srgbClr val="6C3483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b="1" sz="150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4000" y="3728558"/>
            <a:ext cx="7404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b="1" sz="1550">
                <a:solidFill>
                  <a:srgbClr val="6C3483"/>
                </a:solidFill>
                <a:latin typeface="Times New Roman"/>
              </a:rPr>
              <a:t>Future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4000" y="4228558"/>
            <a:ext cx="7914000" cy="40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>
                <a:solidFill>
                  <a:srgbClr val="3A3A3A"/>
                </a:solidFill>
                <a:latin typeface="Times New Roman"/>
              </a:rPr>
              <a:t>Cover more state-level exams, live counselling-round updates, and explainability for “Safe”/“Likely” calls.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13403" y="366702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57029" y="27965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897152" y="4124907"/>
            <a:ext cx="7436671" cy="129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1254</Words>
  <Application>Microsoft Office PowerPoint</Application>
  <PresentationFormat>Custom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Times New Roman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tutorial activity 2</dc:title>
  <dc:creator>amogh a p</dc:creator>
  <cp:lastModifiedBy>Amogh AP</cp:lastModifiedBy>
  <cp:revision>16</cp:revision>
  <dcterms:created xsi:type="dcterms:W3CDTF">2006-08-16T00:00:00Z</dcterms:created>
  <dcterms:modified xsi:type="dcterms:W3CDTF">2026-07-12T13:32:02Z</dcterms:modified>
  <dc:identifier>DAG-4jJvMTk</dc:identifier>
</cp:coreProperties>
</file>